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Lst>
  <p:notesMasterIdLst>
    <p:notesMasterId r:id="rId8"/>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What it is" id="{935b57f8-acec-f994-1ebe-8f9e7689493d}">
          <p14:sldIdLst>
            <p14:sldId id="256"/>
          </p14:sldIdLst>
        </p14:section>
        <p14:section name="How it helps" id="{80118479-559f-6d8d-4430-265736b3793f}">
          <p14:sldIdLst>
            <p14:sldId id="257"/>
            <p14:sldId id="258"/>
            <p14:sldId id="259"/>
          </p14:sldIdLst>
        </p14:section>
        <p14:section name="Trust and working together" id="{bf3d3432-8b4a-dda4-c49f-d6566b55e25c}">
          <p14:sldIdLst>
            <p14:sldId id="260"/>
            <p14:sldId id="261"/>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notesMaster" Target="notesMasters/notesMaster1.xml"/><Relationship Id="rId9" Type="http://schemas.openxmlformats.org/officeDocument/2006/relationships/presProps" Target="presProps.xml"/><Relationship Id="rId10" Type="http://schemas.openxmlformats.org/officeDocument/2006/relationships/viewProps" Target="viewProps.xml"/><Relationship Id="rId11" Type="http://schemas.openxmlformats.org/officeDocument/2006/relationships/theme" Target="theme/theme1.xml"/><Relationship Id="rId12"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London Office Monitor, a working proof of concept for the London office team. Think of it as a research assistant. It reads broker figures, property news and insolvency notices, keeps everything it reads in one place, and points out what matters to Nan Fung. The team uses it three ways: ask it a question, read the weekly brief it drafts, and discover opportunities that fit our mandate, which the analyst approves before the team sees them. On the right is the real app answering a question about City rents, with every broker's figure and a link to each source. The next three slides cover what it does for the team: time, data and opportunities.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First, time. To compare what six brokers say about one figure, an analyst opens six reports, finds the figure in each, and checks how each broker defines it. The Monitor does it in about 15 seconds and links every figure to its source. The weekly brief takes about a minute to draft, and the opportunity scan about two. Each costs a few cents of AI usage. These times come from our test runs on 24 and 25 October. We have not yet measured how long the same work takes the team by hand; that is one of the things we ask the team for on the last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Second, data. Everything the Monitor reads is kept in our own database: broker figures with their definitions, news and insolvency notices with their links, our own policies and past decisions, and every approve or reject call with its reason. That gives the team one shared record. The same question gets the same number, every figure opens its original source, and past decisions stay searchable when people move on. The history grows as each quarter's figures are added, and licensed data sources can be added later without rebuilding it. In the demo, the internal documents are mock examples.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Third, opportunities. Most London office deals trade off-market, so hearing early matters. The scan reads the week's news and insolvency notices and matches them against our mandate and our buildings. It investigates up to five leads at once, and a second AI model checks each card against its evidence. The analyst approves or rejects each card, and only approved cards reach the team's Approved list. The scan also checks past decisions and tries to skip leads the analyst already rejected. It can be scheduled to run by itself every Monday morning. The card on the right comes from the demo: a test insolvency notice matched against an illustrative mandate, since Nan Fung's real criteria are not public.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obvious question: why not just use ChatGPT? ChatGPT can search the web and cite sources, but any checking is the AI judging its own work, so nothing guarantees that each number matches its source. It doesn't hold our broker data, knows only what you give it, and has no approval step before something reaches the team. In the Monitor, every figure in an answer is checked against our stored data before you see it; a mismatch is rewritten or shown with a visible warning. It knows our buildings and mandate, and the analyst approves every lead before the team sees it. Those decisions are kept with their reasons, and each new scan checks them, so a lead like one the analyst turned down is dropped or explained. ChatGPT's memory, by contrast, is personal to each user. It also works from a fixed list of sources we control, so we can leave out any whose terms forbid AI use, such as Knight Frank, and broker reports are never fed to the AI.</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For this to work beyond a demo, we need four things from the business team. First, data readiness: our real mandate, asset details and past decisions in place of the illustrative and mock examples; licences for the broker reports the team already receives; and the past figures in the team's spreadsheets, so trends have history. Second, your know-how: how each task is done today, which brokers and measures you trust when they disagree, and what a good brief or a good lead looks like. That becomes the tool's playbooks. Third, ways to judge it: real questions with the right answers, leads you would and wouldn't pursue, and how long the work takes by hand today, so we can measure quality and time saved before anyone relies on it. Fourth, time and sign-off: a few analysts to use it and give feedback, compliance sign-off on how our data is used with AI models, and secure hosting with login. Internal documents need an access and data-residency review first, because the passages used in an answer are sent to the AI model provider.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OPENER">
    <p:bg>
      <p:bgPr>
        <a:solidFill>
          <a:srgbClr val="23395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rtlCol="0"/>
          <a:lstStyle>
            <a:lvl1pPr algn="l" indent="0" marL="0">
              <a:buNone/>
              <a:defRPr lang="en-US" sz="1200" b="1" dirty="0">
                <a:solidFill>
                  <a:schemeClr val="accent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3" name="Text 0"/>
          <p:cNvSpPr/>
          <p:nvPr>
            <p:ph idx="101" type="title" hasCustomPrompt="1"/>
          </p:nvPr>
        </p:nvSpPr>
        <p:spPr>
          <a:xfrm>
            <a:off x="457200" y="640080"/>
            <a:ext cx="8229600" cy="960120"/>
          </a:xfrm>
          <a:prstGeom prst="rect">
            <a:avLst/>
          </a:prstGeom>
          <a:noFill/>
          <a:ln/>
        </p:spPr>
        <p:txBody>
          <a:bodyPr wrap="square" rtlCol="0"/>
          <a:lstStyle>
            <a:lvl1pPr algn="l" indent="0" marL="0">
              <a:buNone/>
              <a:defRPr lang="en-US" sz="32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200"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London Office Monitor · proof of concept</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DARK">
    <p:bg>
      <p:bgPr>
        <a:solidFill>
          <a:srgbClr val="23395B"/>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rtlCol="0"/>
          <a:lstStyle>
            <a:lvl1pPr algn="l" indent="0" marL="0">
              <a:buNone/>
              <a:defRPr lang="en-US" sz="1200" b="1" dirty="0">
                <a:solidFill>
                  <a:schemeClr val="accent4"/>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rtlCol="0"/>
          <a:lstStyle>
            <a:lvl1pPr algn="l" indent="0" marL="0">
              <a:buNone/>
              <a:defRPr lang="en-US" sz="3000" b="1" dirty="0">
                <a:solidFill>
                  <a:schemeClr val="bg1"/>
                </a:solidFill>
                <a:latin typeface="Cambria" pitchFamily="34" charset="0"/>
                <a:ea typeface="Cambria" pitchFamily="34" charset="-122"/>
                <a:cs typeface="Cambria" pitchFamily="34" charset="-120"/>
              </a:defRPr>
            </a:lvl1pPr>
          </a:lstStyle>
          <a:p>
            <a:pPr algn="l" indent="0" marL="0">
              <a:buNone/>
            </a:pPr>
            <a:endParaRPr lang="en-US" sz="3000"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3"/>
                </a:solidFill>
              </a:rPr>
              <a:t>London Office Monitor · proof of concept</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LIGHT">
    <p:bg>
      <p:bgPr>
        <a:solidFill>
          <a:srgbClr val="FFFFFF"/>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rtlCol="0"/>
          <a:lstStyle>
            <a:lvl1pPr algn="l" indent="0" marL="0">
              <a:buNone/>
              <a:defRPr lang="en-US" sz="1200" b="1" dirty="0">
                <a:solidFill>
                  <a:schemeClr val="accent1"/>
                </a:solidFill>
                <a:latin typeface="Calibri" pitchFamily="34" charset="0"/>
                <a:ea typeface="Calibri" pitchFamily="34" charset="-122"/>
                <a:cs typeface="Calibri" pitchFamily="34" charset="-120"/>
              </a:defRPr>
            </a:lvl1pPr>
          </a:lstStyle>
          <a:p>
            <a:pPr algn="l" indent="0" marL="0">
              <a:buNone/>
            </a:pP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rtlCol="0"/>
          <a:lstStyle>
            <a:lvl1pPr algn="l" indent="0" marL="0">
              <a:buNone/>
              <a:defRPr lang="en-US" sz="2800" b="1" dirty="0">
                <a:solidFill>
                  <a:schemeClr val="tx2"/>
                </a:solidFill>
                <a:latin typeface="Cambria" pitchFamily="34" charset="0"/>
                <a:ea typeface="Cambria" pitchFamily="34" charset="-122"/>
                <a:cs typeface="Cambria" pitchFamily="34" charset="-120"/>
              </a:defRPr>
            </a:lvl1pPr>
          </a:lstStyle>
          <a:p>
            <a:pPr algn="l" indent="0" marL="0">
              <a:buNone/>
            </a:pPr>
            <a:endParaRPr lang="en-US" sz="2800" dirty="0"/>
          </a:p>
        </p:txBody>
      </p:sp>
      <p:sp>
        <p:nvSpPr>
          <p:cNvPr id="4" name="Text 0"/>
          <p:cNvSpPr/>
          <p:nvPr/>
        </p:nvSpPr>
        <p:spPr>
          <a:xfrm>
            <a:off x="457200" y="4754880"/>
            <a:ext cx="5486400" cy="274320"/>
          </a:xfrm>
          <a:prstGeom prst="rect">
            <a:avLst/>
          </a:prstGeom>
          <a:noFill/>
          <a:ln/>
        </p:spPr>
        <p:txBody>
          <a:bodyPr wrap="square" lIns="0" tIns="0" rIns="0" bIns="0" rtlCol="0" anchor="ctr"/>
          <a:lstStyle/>
          <a:p>
            <a:pPr indent="0" marL="0">
              <a:buNone/>
            </a:pPr>
            <a:r>
              <a:rPr lang="en-US" sz="1000" dirty="0">
                <a:solidFill>
                  <a:schemeClr val="accent6"/>
                </a:solidFill>
              </a:rPr>
              <a:t>London Office Monitor · proof of concept</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l"/>
            <a:fld id="{F7021451-1387-4CA6-816F-3879F97B5CBC}" type="slidenum">
              <a:rPr b="0" lang="en-US"/>
              <a:t>1004</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slideLayout" Target="../slideLayouts/slideLayout2.xml"/><Relationship Id="rId6"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4.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pn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slideLayout" Target="../slideLayouts/slideLayout4.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slideLayout" Target="../slideLayouts/slideLayout4.xml"/><Relationship Id="rId1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3.xml"/><Relationship Id="rId6" Type="http://schemas.openxmlformats.org/officeDocument/2006/relationships/notesSlide" Target="../notesSlides/notesSlide6.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lIns="0" tIns="0" rIns="0" bIns="0" rtlCol="0" anchor="ctr"/>
          <a:lstStyle/>
          <a:p>
            <a:pPr algn="l" indent="0" marL="0">
              <a:buNone/>
            </a:pPr>
            <a:r>
              <a:rPr lang="en-US" sz="1200" b="1" spc="100" kern="0" dirty="0">
                <a:solidFill>
                  <a:schemeClr val="accent4"/>
                </a:solidFill>
                <a:latin typeface="Calibri" pitchFamily="34" charset="0"/>
                <a:ea typeface="Calibri" pitchFamily="34" charset="-122"/>
                <a:cs typeface="Calibri" pitchFamily="34" charset="-120"/>
              </a:rPr>
              <a:t>WHAT IT IS</a:t>
            </a:r>
            <a:endParaRPr lang="en-US" sz="1200" dirty="0"/>
          </a:p>
        </p:txBody>
      </p:sp>
      <p:sp>
        <p:nvSpPr>
          <p:cNvPr id="3" name="Text 0"/>
          <p:cNvSpPr/>
          <p:nvPr>
            <p:ph idx="101" type="title" hasCustomPrompt="1"/>
          </p:nvPr>
        </p:nvSpPr>
        <p:spPr>
          <a:xfrm>
            <a:off x="457200" y="640080"/>
            <a:ext cx="8229600" cy="960120"/>
          </a:xfrm>
          <a:prstGeom prst="rect">
            <a:avLst/>
          </a:prstGeom>
          <a:noFill/>
          <a:ln/>
        </p:spPr>
        <p:txBody>
          <a:bodyPr wrap="square" lIns="0" tIns="0" rIns="0" bIns="0" rtlCol="0" anchor="t"/>
          <a:lstStyle/>
          <a:p>
            <a:pPr algn="l" indent="0" marL="0">
              <a:buNone/>
            </a:pPr>
            <a:r>
              <a:rPr lang="en-US" sz="3200" b="1" dirty="0">
                <a:solidFill>
                  <a:schemeClr val="bg1"/>
                </a:solidFill>
                <a:latin typeface="Cambria" pitchFamily="34" charset="0"/>
                <a:ea typeface="Cambria" pitchFamily="34" charset="-122"/>
                <a:cs typeface="Cambria" pitchFamily="34" charset="-120"/>
              </a:rPr>
              <a:t>An AI research assistant for the London office market</a:t>
            </a:r>
            <a:endParaRPr lang="en-US" sz="3200" dirty="0"/>
          </a:p>
        </p:txBody>
      </p:sp>
      <p:sp>
        <p:nvSpPr>
          <p:cNvPr id="4" name="Lead"/>
          <p:cNvSpPr txBox="1"/>
          <p:nvPr/>
        </p:nvSpPr>
        <p:spPr>
          <a:xfrm>
            <a:off x="457200" y="1737360"/>
            <a:ext cx="8229600" cy="320040"/>
          </a:xfrm>
          <a:prstGeom prst="rect">
            <a:avLst/>
          </a:prstGeom>
          <a:noFill/>
          <a:ln/>
        </p:spPr>
        <p:txBody>
          <a:bodyPr wrap="square" lIns="0" tIns="0" rIns="0" bIns="0" rtlCol="0" anchor="t"/>
          <a:lstStyle/>
          <a:p>
            <a:pPr indent="0" marL="0">
              <a:buNone/>
            </a:pPr>
            <a:r>
              <a:rPr lang="en-US" sz="1600" dirty="0">
                <a:solidFill>
                  <a:schemeClr val="bg2"/>
                </a:solidFill>
              </a:rPr>
              <a:t>It saves time, keeps a lasting record of the market, and flags opportunities that fit Nan Fung.</a:t>
            </a:r>
            <a:endParaRPr lang="en-US" sz="1600" dirty="0"/>
          </a:p>
        </p:txBody>
      </p:sp>
      <p:sp>
        <p:nvSpPr>
          <p:cNvPr id="5" name="Ask icon circle"/>
          <p:cNvSpPr/>
          <p:nvPr/>
        </p:nvSpPr>
        <p:spPr>
          <a:xfrm>
            <a:off x="457200" y="2286000"/>
            <a:ext cx="475488" cy="475488"/>
          </a:xfrm>
          <a:prstGeom prst="ellipse">
            <a:avLst/>
          </a:prstGeom>
          <a:solidFill>
            <a:schemeClr val="accent4"/>
          </a:solidFill>
          <a:ln w="12700">
            <a:solidFill>
              <a:schemeClr val="accent4"/>
            </a:solidFill>
            <a:prstDash val="solid"/>
          </a:ln>
        </p:spPr>
      </p:sp>
      <p:pic>
        <p:nvPicPr>
          <p:cNvPr id="6" name="Image 0" descr="Ask icon">    </p:cNvPr>
          <p:cNvPicPr>
            <a:picLocks noChangeAspect="1"/>
          </p:cNvPicPr>
          <p:nvPr/>
        </p:nvPicPr>
        <p:blipFill>
          <a:blip r:embed="rId1"/>
          <a:stretch>
            <a:fillRect/>
          </a:stretch>
        </p:blipFill>
        <p:spPr>
          <a:xfrm>
            <a:off x="576072" y="2404872"/>
            <a:ext cx="237744" cy="237744"/>
          </a:xfrm>
          <a:prstGeom prst="rect">
            <a:avLst/>
          </a:prstGeom>
        </p:spPr>
      </p:pic>
      <p:sp>
        <p:nvSpPr>
          <p:cNvPr id="7" name="Text 4"/>
          <p:cNvSpPr txBox="1"/>
          <p:nvPr/>
        </p:nvSpPr>
        <p:spPr>
          <a:xfrm>
            <a:off x="1097280" y="2267712"/>
            <a:ext cx="3566160" cy="274320"/>
          </a:xfrm>
          <a:prstGeom prst="rect">
            <a:avLst/>
          </a:prstGeom>
          <a:noFill/>
          <a:ln/>
        </p:spPr>
        <p:txBody>
          <a:bodyPr wrap="square" lIns="0" tIns="0" rIns="0" bIns="0" rtlCol="0" anchor="t"/>
          <a:lstStyle/>
          <a:p>
            <a:pPr indent="0" marL="0">
              <a:buNone/>
            </a:pPr>
            <a:r>
              <a:rPr lang="en-US" sz="1600" b="1" dirty="0">
                <a:solidFill>
                  <a:schemeClr val="bg1"/>
                </a:solidFill>
              </a:rPr>
              <a:t>Ask</a:t>
            </a:r>
            <a:endParaRPr lang="en-US" sz="1600" dirty="0"/>
          </a:p>
        </p:txBody>
      </p:sp>
      <p:sp>
        <p:nvSpPr>
          <p:cNvPr id="8" name="Text 5"/>
          <p:cNvSpPr txBox="1"/>
          <p:nvPr/>
        </p:nvSpPr>
        <p:spPr>
          <a:xfrm>
            <a:off x="1097280" y="2542032"/>
            <a:ext cx="3566160" cy="457200"/>
          </a:xfrm>
          <a:prstGeom prst="rect">
            <a:avLst/>
          </a:prstGeom>
          <a:noFill/>
          <a:ln/>
        </p:spPr>
        <p:txBody>
          <a:bodyPr wrap="square" lIns="0" tIns="0" rIns="0" bIns="0" rtlCol="0" anchor="t"/>
          <a:lstStyle/>
          <a:p>
            <a:pPr indent="0" marL="0">
              <a:buNone/>
            </a:pPr>
            <a:r>
              <a:rPr lang="en-US" sz="1400" dirty="0">
                <a:solidFill>
                  <a:schemeClr val="bg2"/>
                </a:solidFill>
              </a:rPr>
              <a:t>Any market question, answered with every broker's figure and its source</a:t>
            </a:r>
            <a:endParaRPr lang="en-US" sz="1400" dirty="0"/>
          </a:p>
        </p:txBody>
      </p:sp>
      <p:sp>
        <p:nvSpPr>
          <p:cNvPr id="9" name="Read icon circle"/>
          <p:cNvSpPr/>
          <p:nvPr/>
        </p:nvSpPr>
        <p:spPr>
          <a:xfrm>
            <a:off x="457200" y="3063240"/>
            <a:ext cx="475488" cy="475488"/>
          </a:xfrm>
          <a:prstGeom prst="ellipse">
            <a:avLst/>
          </a:prstGeom>
          <a:solidFill>
            <a:schemeClr val="accent4"/>
          </a:solidFill>
          <a:ln w="12700">
            <a:solidFill>
              <a:schemeClr val="accent4"/>
            </a:solidFill>
            <a:prstDash val="solid"/>
          </a:ln>
        </p:spPr>
      </p:sp>
      <p:pic>
        <p:nvPicPr>
          <p:cNvPr id="10" name="Image 1" descr="Read icon">    </p:cNvPr>
          <p:cNvPicPr>
            <a:picLocks noChangeAspect="1"/>
          </p:cNvPicPr>
          <p:nvPr/>
        </p:nvPicPr>
        <p:blipFill>
          <a:blip r:embed="rId2"/>
          <a:stretch>
            <a:fillRect/>
          </a:stretch>
        </p:blipFill>
        <p:spPr>
          <a:xfrm>
            <a:off x="576072" y="3182112"/>
            <a:ext cx="237744" cy="237744"/>
          </a:xfrm>
          <a:prstGeom prst="rect">
            <a:avLst/>
          </a:prstGeom>
        </p:spPr>
      </p:pic>
      <p:sp>
        <p:nvSpPr>
          <p:cNvPr id="11" name="Text 7"/>
          <p:cNvSpPr txBox="1"/>
          <p:nvPr/>
        </p:nvSpPr>
        <p:spPr>
          <a:xfrm>
            <a:off x="1097280" y="3044952"/>
            <a:ext cx="3566160" cy="274320"/>
          </a:xfrm>
          <a:prstGeom prst="rect">
            <a:avLst/>
          </a:prstGeom>
          <a:noFill/>
          <a:ln/>
        </p:spPr>
        <p:txBody>
          <a:bodyPr wrap="square" lIns="0" tIns="0" rIns="0" bIns="0" rtlCol="0" anchor="t"/>
          <a:lstStyle/>
          <a:p>
            <a:pPr indent="0" marL="0">
              <a:buNone/>
            </a:pPr>
            <a:r>
              <a:rPr lang="en-US" sz="1600" b="1" dirty="0">
                <a:solidFill>
                  <a:schemeClr val="bg1"/>
                </a:solidFill>
              </a:rPr>
              <a:t>Read</a:t>
            </a:r>
            <a:endParaRPr lang="en-US" sz="1600" dirty="0"/>
          </a:p>
        </p:txBody>
      </p:sp>
      <p:sp>
        <p:nvSpPr>
          <p:cNvPr id="12" name="Text 8"/>
          <p:cNvSpPr txBox="1"/>
          <p:nvPr/>
        </p:nvSpPr>
        <p:spPr>
          <a:xfrm>
            <a:off x="1097280" y="3319272"/>
            <a:ext cx="3566160" cy="457200"/>
          </a:xfrm>
          <a:prstGeom prst="rect">
            <a:avLst/>
          </a:prstGeom>
          <a:noFill/>
          <a:ln/>
        </p:spPr>
        <p:txBody>
          <a:bodyPr wrap="square" lIns="0" tIns="0" rIns="0" bIns="0" rtlCol="0" anchor="t"/>
          <a:lstStyle/>
          <a:p>
            <a:pPr indent="0" marL="0">
              <a:buNone/>
            </a:pPr>
            <a:r>
              <a:rPr lang="en-US" sz="1400" dirty="0">
                <a:solidFill>
                  <a:schemeClr val="bg2"/>
                </a:solidFill>
              </a:rPr>
              <a:t>A weekly brief: what changed, and what it means for our buildings</a:t>
            </a:r>
            <a:endParaRPr lang="en-US" sz="1400" dirty="0"/>
          </a:p>
        </p:txBody>
      </p:sp>
      <p:sp>
        <p:nvSpPr>
          <p:cNvPr id="13" name="Discover icon circle"/>
          <p:cNvSpPr/>
          <p:nvPr/>
        </p:nvSpPr>
        <p:spPr>
          <a:xfrm>
            <a:off x="457200" y="3840480"/>
            <a:ext cx="475488" cy="475488"/>
          </a:xfrm>
          <a:prstGeom prst="ellipse">
            <a:avLst/>
          </a:prstGeom>
          <a:solidFill>
            <a:schemeClr val="accent4"/>
          </a:solidFill>
          <a:ln w="12700">
            <a:solidFill>
              <a:schemeClr val="accent4"/>
            </a:solidFill>
            <a:prstDash val="solid"/>
          </a:ln>
        </p:spPr>
      </p:sp>
      <p:pic>
        <p:nvPicPr>
          <p:cNvPr id="14" name="Image 2" descr="Discover icon">    </p:cNvPr>
          <p:cNvPicPr>
            <a:picLocks noChangeAspect="1"/>
          </p:cNvPicPr>
          <p:nvPr/>
        </p:nvPicPr>
        <p:blipFill>
          <a:blip r:embed="rId3"/>
          <a:stretch>
            <a:fillRect/>
          </a:stretch>
        </p:blipFill>
        <p:spPr>
          <a:xfrm>
            <a:off x="576072" y="3959352"/>
            <a:ext cx="237744" cy="237744"/>
          </a:xfrm>
          <a:prstGeom prst="rect">
            <a:avLst/>
          </a:prstGeom>
        </p:spPr>
      </p:pic>
      <p:sp>
        <p:nvSpPr>
          <p:cNvPr id="15" name="Text 10"/>
          <p:cNvSpPr txBox="1"/>
          <p:nvPr/>
        </p:nvSpPr>
        <p:spPr>
          <a:xfrm>
            <a:off x="1097280" y="3822192"/>
            <a:ext cx="3566160" cy="274320"/>
          </a:xfrm>
          <a:prstGeom prst="rect">
            <a:avLst/>
          </a:prstGeom>
          <a:noFill/>
          <a:ln/>
        </p:spPr>
        <p:txBody>
          <a:bodyPr wrap="square" lIns="0" tIns="0" rIns="0" bIns="0" rtlCol="0" anchor="t"/>
          <a:lstStyle/>
          <a:p>
            <a:pPr indent="0" marL="0">
              <a:buNone/>
            </a:pPr>
            <a:r>
              <a:rPr lang="en-US" sz="1600" b="1" dirty="0">
                <a:solidFill>
                  <a:schemeClr val="bg1"/>
                </a:solidFill>
              </a:rPr>
              <a:t>Discover</a:t>
            </a:r>
            <a:endParaRPr lang="en-US" sz="1600" dirty="0"/>
          </a:p>
        </p:txBody>
      </p:sp>
      <p:sp>
        <p:nvSpPr>
          <p:cNvPr id="16" name="Text 11"/>
          <p:cNvSpPr txBox="1"/>
          <p:nvPr/>
        </p:nvSpPr>
        <p:spPr>
          <a:xfrm>
            <a:off x="1097280" y="4096512"/>
            <a:ext cx="3566160" cy="457200"/>
          </a:xfrm>
          <a:prstGeom prst="rect">
            <a:avLst/>
          </a:prstGeom>
          <a:noFill/>
          <a:ln/>
        </p:spPr>
        <p:txBody>
          <a:bodyPr wrap="square" lIns="0" tIns="0" rIns="0" bIns="0" rtlCol="0" anchor="t"/>
          <a:lstStyle/>
          <a:p>
            <a:pPr indent="0" marL="0">
              <a:buNone/>
            </a:pPr>
            <a:r>
              <a:rPr lang="en-US" sz="1400" dirty="0">
                <a:solidFill>
                  <a:schemeClr val="bg2"/>
                </a:solidFill>
              </a:rPr>
              <a:t>Opportunities that fit our mandate. Only those the analyst approves reach the team</a:t>
            </a:r>
            <a:endParaRPr lang="en-US" sz="1400" dirty="0"/>
          </a:p>
        </p:txBody>
      </p:sp>
      <p:sp>
        <p:nvSpPr>
          <p:cNvPr id="17" name="Screenshot frame"/>
          <p:cNvSpPr/>
          <p:nvPr/>
        </p:nvSpPr>
        <p:spPr>
          <a:xfrm>
            <a:off x="5233751" y="2267712"/>
            <a:ext cx="3453049" cy="2148840"/>
          </a:xfrm>
          <a:prstGeom prst="rect">
            <a:avLst/>
          </a:prstGeom>
          <a:solidFill>
            <a:schemeClr val="bg1"/>
          </a:solidFill>
          <a:ln w="12700">
            <a:solidFill>
              <a:schemeClr val="bg1"/>
            </a:solidFill>
            <a:prstDash val="solid"/>
          </a:ln>
          <a:effectLst>
            <a:outerShdw sx="100000" sy="100000" kx="0" ky="0" algn="bl" rotWithShape="0" blurRad="76200" dist="25400" dir="5400000">
              <a:srgbClr val="000000">
                <a:alpha val="25000"/>
              </a:srgbClr>
            </a:outerShdw>
          </a:effectLst>
        </p:spPr>
      </p:sp>
      <p:pic>
        <p:nvPicPr>
          <p:cNvPr id="18" name="Image 3" descr="The web app answering &quot;What's City prime rent now, and do the brokers agree?&quot; with each broker's figure and a link to its source">    </p:cNvPr>
          <p:cNvPicPr>
            <a:picLocks noChangeAspect="1"/>
          </p:cNvPicPr>
          <p:nvPr/>
        </p:nvPicPr>
        <p:blipFill>
          <a:blip r:embed="rId4"/>
          <a:stretch>
            <a:fillRect/>
          </a:stretch>
        </p:blipFill>
        <p:spPr>
          <a:xfrm>
            <a:off x="5233751" y="2267712"/>
            <a:ext cx="3453049" cy="2148840"/>
          </a:xfrm>
          <a:prstGeom prst="rect">
            <a:avLst/>
          </a:prstGeom>
        </p:spPr>
      </p:pic>
      <p:sp>
        <p:nvSpPr>
          <p:cNvPr id="19" name="Screenshot caption"/>
          <p:cNvSpPr txBox="1"/>
          <p:nvPr/>
        </p:nvSpPr>
        <p:spPr>
          <a:xfrm>
            <a:off x="5233751" y="4489704"/>
            <a:ext cx="3453049" cy="228600"/>
          </a:xfrm>
          <a:prstGeom prst="rect">
            <a:avLst/>
          </a:prstGeom>
          <a:noFill/>
          <a:ln/>
        </p:spPr>
        <p:txBody>
          <a:bodyPr wrap="square" lIns="0" tIns="0" rIns="0" bIns="0" rtlCol="0" anchor="t"/>
          <a:lstStyle/>
          <a:p>
            <a:pPr indent="0" marL="0">
              <a:buNone/>
            </a:pPr>
            <a:r>
              <a:rPr lang="en-US" sz="1000" i="1" dirty="0">
                <a:solidFill>
                  <a:schemeClr val="bg2"/>
                </a:solidFill>
              </a:rPr>
              <a:t>The working app, answering a question on City rents</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1</a:t>
            </a:fld>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latin typeface="Calibri" pitchFamily="34" charset="0"/>
                <a:ea typeface="Calibri" pitchFamily="34" charset="-122"/>
                <a:cs typeface="Calibri" pitchFamily="34" charset="-120"/>
              </a:rPr>
              <a:t>1 · TIME SAVING</a:t>
            </a: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Routine research now takes minutes</a:t>
            </a:r>
            <a:endParaRPr lang="en-US" sz="2800" dirty="0"/>
          </a:p>
        </p:txBody>
      </p:sp>
      <p:sp>
        <p:nvSpPr>
          <p:cNvPr id="4" name="Compare the brokers on any figure card"/>
          <p:cNvSpPr/>
          <p:nvPr/>
        </p:nvSpPr>
        <p:spPr>
          <a:xfrm>
            <a:off x="457200" y="1371600"/>
            <a:ext cx="8229600" cy="804672"/>
          </a:xfrm>
          <a:prstGeom prst="roundRect">
            <a:avLst>
              <a:gd name="adj" fmla="val 9091"/>
            </a:avLst>
          </a:prstGeom>
          <a:solidFill>
            <a:schemeClr val="bg2"/>
          </a:solidFill>
          <a:ln w="12700">
            <a:solidFill>
              <a:schemeClr val="bg2"/>
            </a:solidFill>
            <a:prstDash val="solid"/>
          </a:ln>
        </p:spPr>
      </p:sp>
      <p:sp>
        <p:nvSpPr>
          <p:cNvPr id="5" name="Time"/>
          <p:cNvSpPr txBox="1"/>
          <p:nvPr/>
        </p:nvSpPr>
        <p:spPr>
          <a:xfrm>
            <a:off x="640080" y="1463040"/>
            <a:ext cx="1463040" cy="43891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~15 sec</a:t>
            </a:r>
            <a:endParaRPr lang="en-US" sz="2800" dirty="0"/>
          </a:p>
        </p:txBody>
      </p:sp>
      <p:sp>
        <p:nvSpPr>
          <p:cNvPr id="6" name="Text 4"/>
          <p:cNvSpPr txBox="1"/>
          <p:nvPr/>
        </p:nvSpPr>
        <p:spPr>
          <a:xfrm>
            <a:off x="640080" y="1901952"/>
            <a:ext cx="1463040" cy="201168"/>
          </a:xfrm>
          <a:prstGeom prst="rect">
            <a:avLst/>
          </a:prstGeom>
          <a:noFill/>
          <a:ln/>
        </p:spPr>
        <p:txBody>
          <a:bodyPr wrap="square" lIns="0" tIns="0" rIns="0" bIns="0" rtlCol="0" anchor="t"/>
          <a:lstStyle/>
          <a:p>
            <a:pPr indent="0" marL="0">
              <a:buNone/>
            </a:pPr>
            <a:r>
              <a:rPr lang="en-US" sz="1100" dirty="0">
                <a:solidFill>
                  <a:schemeClr val="accent6"/>
                </a:solidFill>
              </a:rPr>
              <a:t>per answer</a:t>
            </a:r>
            <a:endParaRPr lang="en-US" sz="1100" dirty="0"/>
          </a:p>
        </p:txBody>
      </p:sp>
      <p:sp>
        <p:nvSpPr>
          <p:cNvPr id="7" name="Text 5"/>
          <p:cNvSpPr txBox="1"/>
          <p:nvPr/>
        </p:nvSpPr>
        <p:spPr>
          <a:xfrm>
            <a:off x="2240280" y="1444752"/>
            <a:ext cx="6263640" cy="274320"/>
          </a:xfrm>
          <a:prstGeom prst="rect">
            <a:avLst/>
          </a:prstGeom>
          <a:noFill/>
          <a:ln/>
        </p:spPr>
        <p:txBody>
          <a:bodyPr wrap="square" lIns="0" tIns="0" rIns="0" bIns="0" rtlCol="0" anchor="t"/>
          <a:lstStyle/>
          <a:p>
            <a:pPr indent="0" marL="0">
              <a:buNone/>
            </a:pPr>
            <a:r>
              <a:rPr lang="en-US" sz="1600" b="1" dirty="0">
                <a:solidFill>
                  <a:schemeClr val="tx2"/>
                </a:solidFill>
              </a:rPr>
              <a:t>Compare the brokers on any figure</a:t>
            </a:r>
            <a:endParaRPr lang="en-US" sz="1600" dirty="0"/>
          </a:p>
        </p:txBody>
      </p:sp>
      <p:sp>
        <p:nvSpPr>
          <p:cNvPr id="8" name="Text 6"/>
          <p:cNvSpPr txBox="1"/>
          <p:nvPr/>
        </p:nvSpPr>
        <p:spPr>
          <a:xfrm>
            <a:off x="2240280" y="1700784"/>
            <a:ext cx="6263640" cy="457200"/>
          </a:xfrm>
          <a:prstGeom prst="rect">
            <a:avLst/>
          </a:prstGeom>
          <a:noFill/>
          <a:ln/>
        </p:spPr>
        <p:txBody>
          <a:bodyPr wrap="square" lIns="0" tIns="0" rIns="0" bIns="0" rtlCol="0" anchor="t"/>
          <a:lstStyle/>
          <a:p>
            <a:pPr indent="0" marL="0">
              <a:buNone/>
            </a:pPr>
            <a:r>
              <a:rPr lang="en-US" sz="1400" b="1" dirty="0">
                <a:solidFill>
                  <a:schemeClr val="accent6"/>
                </a:solidFill>
              </a:rPr>
              <a:t>Today  </a:t>
            </a:r>
            <a:pPr indent="0" marL="0">
              <a:buNone/>
            </a:pPr>
            <a:r>
              <a:rPr lang="en-US" sz="1400" dirty="0">
                <a:solidFill>
                  <a:schemeClr val="accent6"/>
                </a:solidFill>
              </a:rPr>
              <a:t>Open six broker reports, find the figure, check each definition</a:t>
            </a:r>
            <a:endParaRPr lang="en-US" sz="1400" dirty="0"/>
          </a:p>
          <a:p>
            <a:pPr indent="0" marL="0">
              <a:buNone/>
            </a:pPr>
            <a:r>
              <a:rPr lang="en-US" sz="1400" b="1" dirty="0">
                <a:solidFill>
                  <a:schemeClr val="accent2"/>
                </a:solidFill>
              </a:rPr>
              <a:t>Now  </a:t>
            </a:r>
            <a:pPr indent="0" marL="0">
              <a:buNone/>
            </a:pPr>
            <a:r>
              <a:rPr lang="en-US" sz="1400" dirty="0">
                <a:solidFill>
                  <a:schemeClr val="tx1"/>
                </a:solidFill>
              </a:rPr>
              <a:t>One table with every broker's figure, each linked to its source</a:t>
            </a:r>
            <a:endParaRPr lang="en-US" sz="1400" dirty="0"/>
          </a:p>
        </p:txBody>
      </p:sp>
      <p:sp>
        <p:nvSpPr>
          <p:cNvPr id="9" name="Write the weekly market brief card"/>
          <p:cNvSpPr/>
          <p:nvPr/>
        </p:nvSpPr>
        <p:spPr>
          <a:xfrm>
            <a:off x="457200" y="2267712"/>
            <a:ext cx="8229600" cy="804672"/>
          </a:xfrm>
          <a:prstGeom prst="roundRect">
            <a:avLst>
              <a:gd name="adj" fmla="val 9091"/>
            </a:avLst>
          </a:prstGeom>
          <a:solidFill>
            <a:schemeClr val="bg2"/>
          </a:solidFill>
          <a:ln w="12700">
            <a:solidFill>
              <a:schemeClr val="bg2"/>
            </a:solidFill>
            <a:prstDash val="solid"/>
          </a:ln>
        </p:spPr>
      </p:sp>
      <p:sp>
        <p:nvSpPr>
          <p:cNvPr id="10" name="Time"/>
          <p:cNvSpPr txBox="1"/>
          <p:nvPr/>
        </p:nvSpPr>
        <p:spPr>
          <a:xfrm>
            <a:off x="640080" y="2359152"/>
            <a:ext cx="1463040" cy="43891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~1 min</a:t>
            </a:r>
            <a:endParaRPr lang="en-US" sz="2800" dirty="0"/>
          </a:p>
        </p:txBody>
      </p:sp>
      <p:sp>
        <p:nvSpPr>
          <p:cNvPr id="11" name="Text 9"/>
          <p:cNvSpPr txBox="1"/>
          <p:nvPr/>
        </p:nvSpPr>
        <p:spPr>
          <a:xfrm>
            <a:off x="640080" y="2798064"/>
            <a:ext cx="1463040" cy="201168"/>
          </a:xfrm>
          <a:prstGeom prst="rect">
            <a:avLst/>
          </a:prstGeom>
          <a:noFill/>
          <a:ln/>
        </p:spPr>
        <p:txBody>
          <a:bodyPr wrap="square" lIns="0" tIns="0" rIns="0" bIns="0" rtlCol="0" anchor="t"/>
          <a:lstStyle/>
          <a:p>
            <a:pPr indent="0" marL="0">
              <a:buNone/>
            </a:pPr>
            <a:r>
              <a:rPr lang="en-US" sz="1100" dirty="0">
                <a:solidFill>
                  <a:schemeClr val="accent6"/>
                </a:solidFill>
              </a:rPr>
              <a:t>per brief</a:t>
            </a:r>
            <a:endParaRPr lang="en-US" sz="1100" dirty="0"/>
          </a:p>
        </p:txBody>
      </p:sp>
      <p:sp>
        <p:nvSpPr>
          <p:cNvPr id="12" name="Text 10"/>
          <p:cNvSpPr txBox="1"/>
          <p:nvPr/>
        </p:nvSpPr>
        <p:spPr>
          <a:xfrm>
            <a:off x="2240280" y="2340864"/>
            <a:ext cx="6263640" cy="274320"/>
          </a:xfrm>
          <a:prstGeom prst="rect">
            <a:avLst/>
          </a:prstGeom>
          <a:noFill/>
          <a:ln/>
        </p:spPr>
        <p:txBody>
          <a:bodyPr wrap="square" lIns="0" tIns="0" rIns="0" bIns="0" rtlCol="0" anchor="t"/>
          <a:lstStyle/>
          <a:p>
            <a:pPr indent="0" marL="0">
              <a:buNone/>
            </a:pPr>
            <a:r>
              <a:rPr lang="en-US" sz="1600" b="1" dirty="0">
                <a:solidFill>
                  <a:schemeClr val="tx2"/>
                </a:solidFill>
              </a:rPr>
              <a:t>Write the weekly market brief</a:t>
            </a:r>
            <a:endParaRPr lang="en-US" sz="1600" dirty="0"/>
          </a:p>
        </p:txBody>
      </p:sp>
      <p:sp>
        <p:nvSpPr>
          <p:cNvPr id="13" name="Text 11"/>
          <p:cNvSpPr txBox="1"/>
          <p:nvPr/>
        </p:nvSpPr>
        <p:spPr>
          <a:xfrm>
            <a:off x="2240280" y="2596896"/>
            <a:ext cx="6263640" cy="457200"/>
          </a:xfrm>
          <a:prstGeom prst="rect">
            <a:avLst/>
          </a:prstGeom>
          <a:noFill/>
          <a:ln/>
        </p:spPr>
        <p:txBody>
          <a:bodyPr wrap="square" lIns="0" tIns="0" rIns="0" bIns="0" rtlCol="0" anchor="t"/>
          <a:lstStyle/>
          <a:p>
            <a:pPr indent="0" marL="0">
              <a:buNone/>
            </a:pPr>
            <a:r>
              <a:rPr lang="en-US" sz="1400" b="1" dirty="0">
                <a:solidFill>
                  <a:schemeClr val="accent6"/>
                </a:solidFill>
              </a:rPr>
              <a:t>Today  </a:t>
            </a:r>
            <a:pPr indent="0" marL="0">
              <a:buNone/>
            </a:pPr>
            <a:r>
              <a:rPr lang="en-US" sz="1400" dirty="0">
                <a:solidFill>
                  <a:schemeClr val="accent6"/>
                </a:solidFill>
              </a:rPr>
              <a:t>Read the news across many outlets, then write it up</a:t>
            </a:r>
            <a:endParaRPr lang="en-US" sz="1400" dirty="0"/>
          </a:p>
          <a:p>
            <a:pPr indent="0" marL="0">
              <a:buNone/>
            </a:pPr>
            <a:r>
              <a:rPr lang="en-US" sz="1400" b="1" dirty="0">
                <a:solidFill>
                  <a:schemeClr val="accent2"/>
                </a:solidFill>
              </a:rPr>
              <a:t>Now  </a:t>
            </a:r>
            <a:pPr indent="0" marL="0">
              <a:buNone/>
            </a:pPr>
            <a:r>
              <a:rPr lang="en-US" sz="1400" dirty="0">
                <a:solidFill>
                  <a:schemeClr val="tx1"/>
                </a:solidFill>
              </a:rPr>
              <a:t>A first draft in a set format, with every figure checked</a:t>
            </a:r>
            <a:endParaRPr lang="en-US" sz="1400" dirty="0"/>
          </a:p>
        </p:txBody>
      </p:sp>
      <p:sp>
        <p:nvSpPr>
          <p:cNvPr id="14" name="Screen the week for opportunities card"/>
          <p:cNvSpPr/>
          <p:nvPr/>
        </p:nvSpPr>
        <p:spPr>
          <a:xfrm>
            <a:off x="457200" y="3163824"/>
            <a:ext cx="8229600" cy="804672"/>
          </a:xfrm>
          <a:prstGeom prst="roundRect">
            <a:avLst>
              <a:gd name="adj" fmla="val 9091"/>
            </a:avLst>
          </a:prstGeom>
          <a:solidFill>
            <a:schemeClr val="bg2"/>
          </a:solidFill>
          <a:ln w="12700">
            <a:solidFill>
              <a:schemeClr val="bg2"/>
            </a:solidFill>
            <a:prstDash val="solid"/>
          </a:ln>
        </p:spPr>
      </p:sp>
      <p:sp>
        <p:nvSpPr>
          <p:cNvPr id="15" name="Time"/>
          <p:cNvSpPr txBox="1"/>
          <p:nvPr/>
        </p:nvSpPr>
        <p:spPr>
          <a:xfrm>
            <a:off x="640080" y="3255264"/>
            <a:ext cx="1463040" cy="438912"/>
          </a:xfrm>
          <a:prstGeom prst="rect">
            <a:avLst/>
          </a:prstGeom>
          <a:noFill/>
          <a:ln/>
        </p:spPr>
        <p:txBody>
          <a:bodyPr wrap="square" lIns="0" tIns="0" rIns="0" bIns="0" rtlCol="0" anchor="ctr"/>
          <a:lstStyle/>
          <a:p>
            <a:pPr indent="0" marL="0">
              <a:buNone/>
            </a:pPr>
            <a:r>
              <a:rPr lang="en-US" sz="2800" b="1" dirty="0">
                <a:solidFill>
                  <a:schemeClr val="accent1"/>
                </a:solidFill>
                <a:latin typeface="Cambria" pitchFamily="34" charset="0"/>
                <a:ea typeface="Cambria" pitchFamily="34" charset="-122"/>
                <a:cs typeface="Cambria" pitchFamily="34" charset="-120"/>
              </a:rPr>
              <a:t>~2 min</a:t>
            </a:r>
            <a:endParaRPr lang="en-US" sz="2800" dirty="0"/>
          </a:p>
        </p:txBody>
      </p:sp>
      <p:sp>
        <p:nvSpPr>
          <p:cNvPr id="16" name="Text 14"/>
          <p:cNvSpPr txBox="1"/>
          <p:nvPr/>
        </p:nvSpPr>
        <p:spPr>
          <a:xfrm>
            <a:off x="640080" y="3694176"/>
            <a:ext cx="1463040" cy="201168"/>
          </a:xfrm>
          <a:prstGeom prst="rect">
            <a:avLst/>
          </a:prstGeom>
          <a:noFill/>
          <a:ln/>
        </p:spPr>
        <p:txBody>
          <a:bodyPr wrap="square" lIns="0" tIns="0" rIns="0" bIns="0" rtlCol="0" anchor="t"/>
          <a:lstStyle/>
          <a:p>
            <a:pPr indent="0" marL="0">
              <a:buNone/>
            </a:pPr>
            <a:r>
              <a:rPr lang="en-US" sz="1100" dirty="0">
                <a:solidFill>
                  <a:schemeClr val="accent6"/>
                </a:solidFill>
              </a:rPr>
              <a:t>per scan</a:t>
            </a:r>
            <a:endParaRPr lang="en-US" sz="1100" dirty="0"/>
          </a:p>
        </p:txBody>
      </p:sp>
      <p:sp>
        <p:nvSpPr>
          <p:cNvPr id="17" name="Text 15"/>
          <p:cNvSpPr txBox="1"/>
          <p:nvPr/>
        </p:nvSpPr>
        <p:spPr>
          <a:xfrm>
            <a:off x="2240280" y="3236976"/>
            <a:ext cx="6263640" cy="274320"/>
          </a:xfrm>
          <a:prstGeom prst="rect">
            <a:avLst/>
          </a:prstGeom>
          <a:noFill/>
          <a:ln/>
        </p:spPr>
        <p:txBody>
          <a:bodyPr wrap="square" lIns="0" tIns="0" rIns="0" bIns="0" rtlCol="0" anchor="t"/>
          <a:lstStyle/>
          <a:p>
            <a:pPr indent="0" marL="0">
              <a:buNone/>
            </a:pPr>
            <a:r>
              <a:rPr lang="en-US" sz="1600" b="1" dirty="0">
                <a:solidFill>
                  <a:schemeClr val="tx2"/>
                </a:solidFill>
              </a:rPr>
              <a:t>Screen the week for opportunities</a:t>
            </a:r>
            <a:endParaRPr lang="en-US" sz="1600" dirty="0"/>
          </a:p>
        </p:txBody>
      </p:sp>
      <p:sp>
        <p:nvSpPr>
          <p:cNvPr id="18" name="Text 16"/>
          <p:cNvSpPr txBox="1"/>
          <p:nvPr/>
        </p:nvSpPr>
        <p:spPr>
          <a:xfrm>
            <a:off x="2240280" y="3493008"/>
            <a:ext cx="6263640" cy="457200"/>
          </a:xfrm>
          <a:prstGeom prst="rect">
            <a:avLst/>
          </a:prstGeom>
          <a:noFill/>
          <a:ln/>
        </p:spPr>
        <p:txBody>
          <a:bodyPr wrap="square" lIns="0" tIns="0" rIns="0" bIns="0" rtlCol="0" anchor="t"/>
          <a:lstStyle/>
          <a:p>
            <a:pPr indent="0" marL="0">
              <a:buNone/>
            </a:pPr>
            <a:r>
              <a:rPr lang="en-US" sz="1400" b="1" dirty="0">
                <a:solidFill>
                  <a:schemeClr val="accent6"/>
                </a:solidFill>
              </a:rPr>
              <a:t>Today  </a:t>
            </a:r>
            <a:pPr indent="0" marL="0">
              <a:buNone/>
            </a:pPr>
            <a:r>
              <a:rPr lang="en-US" sz="1400" dirty="0">
                <a:solidFill>
                  <a:schemeClr val="accent6"/>
                </a:solidFill>
              </a:rPr>
              <a:t>Read news and insolvency notices against the mandate by hand</a:t>
            </a:r>
            <a:endParaRPr lang="en-US" sz="1400" dirty="0"/>
          </a:p>
          <a:p>
            <a:pPr indent="0" marL="0">
              <a:buNone/>
            </a:pPr>
            <a:r>
              <a:rPr lang="en-US" sz="1400" b="1" dirty="0">
                <a:solidFill>
                  <a:schemeClr val="accent2"/>
                </a:solidFill>
              </a:rPr>
              <a:t>Now  </a:t>
            </a:r>
            <a:pPr indent="0" marL="0">
              <a:buNone/>
            </a:pPr>
            <a:r>
              <a:rPr lang="en-US" sz="1400" dirty="0">
                <a:solidFill>
                  <a:schemeClr val="tx1"/>
                </a:solidFill>
              </a:rPr>
              <a:t>Up to five leads investigated and written up as cards</a:t>
            </a:r>
            <a:endParaRPr lang="en-US" sz="1400" dirty="0"/>
          </a:p>
        </p:txBody>
      </p:sp>
      <p:pic>
        <p:nvPicPr>
          <p:cNvPr id="19" name="Image 0" descr="Coins icon">    </p:cNvPr>
          <p:cNvPicPr>
            <a:picLocks noChangeAspect="1"/>
          </p:cNvPicPr>
          <p:nvPr/>
        </p:nvPicPr>
        <p:blipFill>
          <a:blip r:embed="rId1"/>
          <a:stretch>
            <a:fillRect/>
          </a:stretch>
        </p:blipFill>
        <p:spPr>
          <a:xfrm>
            <a:off x="502920" y="4069080"/>
            <a:ext cx="237744" cy="237744"/>
          </a:xfrm>
          <a:prstGeom prst="rect">
            <a:avLst/>
          </a:prstGeom>
        </p:spPr>
      </p:pic>
      <p:sp>
        <p:nvSpPr>
          <p:cNvPr id="20" name="Text 17"/>
          <p:cNvSpPr txBox="1"/>
          <p:nvPr/>
        </p:nvSpPr>
        <p:spPr>
          <a:xfrm>
            <a:off x="868680" y="4050792"/>
            <a:ext cx="7772400" cy="274320"/>
          </a:xfrm>
          <a:prstGeom prst="rect">
            <a:avLst/>
          </a:prstGeom>
          <a:noFill/>
          <a:ln/>
        </p:spPr>
        <p:txBody>
          <a:bodyPr wrap="square" lIns="0" tIns="0" rIns="0" bIns="0" rtlCol="0" anchor="ctr"/>
          <a:lstStyle/>
          <a:p>
            <a:pPr indent="0" marL="0">
              <a:buNone/>
            </a:pPr>
            <a:r>
              <a:rPr lang="en-US" sz="1400" dirty="0">
                <a:solidFill>
                  <a:schemeClr val="tx1"/>
                </a:solidFill>
              </a:rPr>
              <a:t>Each one costs a few US cents of AI usage, under US$0.10.</a:t>
            </a:r>
            <a:endParaRPr lang="en-US" sz="1400" dirty="0"/>
          </a:p>
        </p:txBody>
      </p:sp>
      <p:sp>
        <p:nvSpPr>
          <p:cNvPr id="21" name="Footnote"/>
          <p:cNvSpPr txBox="1"/>
          <p:nvPr/>
        </p:nvSpPr>
        <p:spPr>
          <a:xfrm>
            <a:off x="457200" y="4434840"/>
            <a:ext cx="8229600" cy="292608"/>
          </a:xfrm>
          <a:prstGeom prst="rect">
            <a:avLst/>
          </a:prstGeom>
          <a:noFill/>
          <a:ln/>
        </p:spPr>
        <p:txBody>
          <a:bodyPr wrap="square" lIns="0" tIns="0" rIns="0" bIns="0" rtlCol="0" anchor="t"/>
          <a:lstStyle/>
          <a:p>
            <a:pPr indent="0" marL="0">
              <a:buNone/>
            </a:pPr>
            <a:r>
              <a:rPr lang="en-US" sz="1000" dirty="0">
                <a:solidFill>
                  <a:schemeClr val="accent6"/>
                </a:solidFill>
              </a:rPr>
              <a:t>Measured in test runs on 24–25 Oct 2026: answers median 13 s (16 runs), brief 31–76 s, scan 56–115 s until the cards are ready. How long the same work takes by hand is still to be measured.</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l"/>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latin typeface="Calibri" pitchFamily="34" charset="0"/>
                <a:ea typeface="Calibri" pitchFamily="34" charset="-122"/>
                <a:cs typeface="Calibri" pitchFamily="34" charset="-120"/>
              </a:rPr>
              <a:t>2 · LONG-TERM DATA MANAGEMENT</a:t>
            </a: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A market memory that stays with the team</a:t>
            </a:r>
            <a:endParaRPr lang="en-US" sz="2800" dirty="0"/>
          </a:p>
        </p:txBody>
      </p:sp>
      <p:sp>
        <p:nvSpPr>
          <p:cNvPr id="4" name="What it keeps panel"/>
          <p:cNvSpPr/>
          <p:nvPr/>
        </p:nvSpPr>
        <p:spPr>
          <a:xfrm>
            <a:off x="457200" y="1371600"/>
            <a:ext cx="3931920" cy="2971800"/>
          </a:xfrm>
          <a:prstGeom prst="roundRect">
            <a:avLst>
              <a:gd name="adj" fmla="val 2462"/>
            </a:avLst>
          </a:prstGeom>
          <a:solidFill>
            <a:schemeClr val="tx2"/>
          </a:solidFill>
          <a:ln w="12700">
            <a:solidFill>
              <a:schemeClr val="tx2"/>
            </a:solidFill>
            <a:prstDash val="solid"/>
          </a:ln>
        </p:spPr>
      </p:sp>
      <p:sp>
        <p:nvSpPr>
          <p:cNvPr id="5" name="Text 3"/>
          <p:cNvSpPr txBox="1"/>
          <p:nvPr/>
        </p:nvSpPr>
        <p:spPr>
          <a:xfrm>
            <a:off x="685800" y="1508760"/>
            <a:ext cx="3566160" cy="256032"/>
          </a:xfrm>
          <a:prstGeom prst="rect">
            <a:avLst/>
          </a:prstGeom>
          <a:noFill/>
          <a:ln/>
        </p:spPr>
        <p:txBody>
          <a:bodyPr wrap="square" lIns="0" tIns="0" rIns="0" bIns="0" rtlCol="0" anchor="t"/>
          <a:lstStyle/>
          <a:p>
            <a:pPr indent="0" marL="0">
              <a:buNone/>
            </a:pPr>
            <a:r>
              <a:rPr lang="en-US" sz="1200" b="1" spc="100" kern="0" dirty="0">
                <a:solidFill>
                  <a:schemeClr val="accent4"/>
                </a:solidFill>
              </a:rPr>
              <a:t>WHAT IT KEEPS, IN OUR OWN DATABASE</a:t>
            </a:r>
            <a:endParaRPr lang="en-US" sz="1200" dirty="0"/>
          </a:p>
        </p:txBody>
      </p:sp>
      <p:sp>
        <p:nvSpPr>
          <p:cNvPr id="6" name="Why it matters panel"/>
          <p:cNvSpPr/>
          <p:nvPr/>
        </p:nvSpPr>
        <p:spPr>
          <a:xfrm>
            <a:off x="4754880" y="1371600"/>
            <a:ext cx="3931920" cy="2971800"/>
          </a:xfrm>
          <a:prstGeom prst="roundRect">
            <a:avLst>
              <a:gd name="adj" fmla="val 2462"/>
            </a:avLst>
          </a:prstGeom>
          <a:solidFill>
            <a:schemeClr val="bg2"/>
          </a:solidFill>
          <a:ln w="12700">
            <a:solidFill>
              <a:schemeClr val="bg2"/>
            </a:solidFill>
            <a:prstDash val="solid"/>
          </a:ln>
        </p:spPr>
      </p:sp>
      <p:sp>
        <p:nvSpPr>
          <p:cNvPr id="7" name="Text 5"/>
          <p:cNvSpPr txBox="1"/>
          <p:nvPr/>
        </p:nvSpPr>
        <p:spPr>
          <a:xfrm>
            <a:off x="4983480" y="1508760"/>
            <a:ext cx="3566160" cy="256032"/>
          </a:xfrm>
          <a:prstGeom prst="rect">
            <a:avLst/>
          </a:prstGeom>
          <a:noFill/>
          <a:ln/>
        </p:spPr>
        <p:txBody>
          <a:bodyPr wrap="square" lIns="0" tIns="0" rIns="0" bIns="0" rtlCol="0" anchor="t"/>
          <a:lstStyle/>
          <a:p>
            <a:pPr indent="0" marL="0">
              <a:buNone/>
            </a:pPr>
            <a:r>
              <a:rPr lang="en-US" sz="1200" b="1" spc="100" kern="0" dirty="0">
                <a:solidFill>
                  <a:schemeClr val="accent1"/>
                </a:solidFill>
              </a:rPr>
              <a:t>WHY IT MATTERS</a:t>
            </a:r>
            <a:endParaRPr lang="en-US" sz="1200" dirty="0"/>
          </a:p>
        </p:txBody>
      </p:sp>
      <p:sp>
        <p:nvSpPr>
          <p:cNvPr id="8" name="Arrow"/>
          <p:cNvSpPr/>
          <p:nvPr/>
        </p:nvSpPr>
        <p:spPr>
          <a:xfrm>
            <a:off x="4462272" y="2697480"/>
            <a:ext cx="219456" cy="292608"/>
          </a:xfrm>
          <a:prstGeom prst="rightArrow">
            <a:avLst/>
          </a:prstGeom>
          <a:solidFill>
            <a:schemeClr val="accent3"/>
          </a:solidFill>
          <a:ln w="12700">
            <a:solidFill>
              <a:schemeClr val="accent3"/>
            </a:solidFill>
            <a:prstDash val="solid"/>
          </a:ln>
        </p:spPr>
      </p:sp>
      <p:pic>
        <p:nvPicPr>
          <p:cNvPr id="9" name="Image 0" descr="Broker figures icon">    </p:cNvPr>
          <p:cNvPicPr>
            <a:picLocks noChangeAspect="1"/>
          </p:cNvPicPr>
          <p:nvPr/>
        </p:nvPicPr>
        <p:blipFill>
          <a:blip r:embed="rId1"/>
          <a:stretch>
            <a:fillRect/>
          </a:stretch>
        </p:blipFill>
        <p:spPr>
          <a:xfrm>
            <a:off x="713232" y="1993392"/>
            <a:ext cx="274320" cy="274320"/>
          </a:xfrm>
          <a:prstGeom prst="rect">
            <a:avLst/>
          </a:prstGeom>
        </p:spPr>
      </p:pic>
      <p:sp>
        <p:nvSpPr>
          <p:cNvPr id="10" name="Text 7"/>
          <p:cNvSpPr txBox="1"/>
          <p:nvPr/>
        </p:nvSpPr>
        <p:spPr>
          <a:xfrm>
            <a:off x="1143000" y="1920240"/>
            <a:ext cx="3154680" cy="237744"/>
          </a:xfrm>
          <a:prstGeom prst="rect">
            <a:avLst/>
          </a:prstGeom>
          <a:noFill/>
          <a:ln/>
        </p:spPr>
        <p:txBody>
          <a:bodyPr wrap="square" lIns="0" tIns="0" rIns="0" bIns="0" rtlCol="0" anchor="t"/>
          <a:lstStyle/>
          <a:p>
            <a:pPr indent="0" marL="0">
              <a:buNone/>
            </a:pPr>
            <a:r>
              <a:rPr lang="en-US" sz="1400" b="1" dirty="0">
                <a:solidFill>
                  <a:schemeClr val="bg1"/>
                </a:solidFill>
              </a:rPr>
              <a:t>Broker figures</a:t>
            </a:r>
            <a:endParaRPr lang="en-US" sz="1400" dirty="0"/>
          </a:p>
        </p:txBody>
      </p:sp>
      <p:sp>
        <p:nvSpPr>
          <p:cNvPr id="11" name="Text 8"/>
          <p:cNvSpPr txBox="1"/>
          <p:nvPr/>
        </p:nvSpPr>
        <p:spPr>
          <a:xfrm>
            <a:off x="1143000" y="2157984"/>
            <a:ext cx="3154680" cy="237744"/>
          </a:xfrm>
          <a:prstGeom prst="rect">
            <a:avLst/>
          </a:prstGeom>
          <a:noFill/>
          <a:ln/>
        </p:spPr>
        <p:txBody>
          <a:bodyPr wrap="square" lIns="0" tIns="0" rIns="0" bIns="0" rtlCol="0" anchor="t"/>
          <a:lstStyle/>
          <a:p>
            <a:pPr indent="0" marL="0">
              <a:buNone/>
            </a:pPr>
            <a:r>
              <a:rPr lang="en-US" sz="1400" dirty="0">
                <a:solidFill>
                  <a:schemeClr val="bg2"/>
                </a:solidFill>
              </a:rPr>
              <a:t>Rents, vacancy, yields and more</a:t>
            </a:r>
            <a:endParaRPr lang="en-US" sz="1400" dirty="0"/>
          </a:p>
        </p:txBody>
      </p:sp>
      <p:sp>
        <p:nvSpPr>
          <p:cNvPr id="12" name="Same question, same number icon circle"/>
          <p:cNvSpPr/>
          <p:nvPr/>
        </p:nvSpPr>
        <p:spPr>
          <a:xfrm>
            <a:off x="4983480" y="1938528"/>
            <a:ext cx="384048" cy="384048"/>
          </a:xfrm>
          <a:prstGeom prst="ellipse">
            <a:avLst/>
          </a:prstGeom>
          <a:solidFill>
            <a:schemeClr val="tx2"/>
          </a:solidFill>
          <a:ln w="12700">
            <a:solidFill>
              <a:schemeClr val="tx2"/>
            </a:solidFill>
            <a:prstDash val="solid"/>
          </a:ln>
        </p:spPr>
      </p:sp>
      <p:pic>
        <p:nvPicPr>
          <p:cNvPr id="13" name="Image 1" descr="Same question, same number icon">    </p:cNvPr>
          <p:cNvPicPr>
            <a:picLocks noChangeAspect="1"/>
          </p:cNvPicPr>
          <p:nvPr/>
        </p:nvPicPr>
        <p:blipFill>
          <a:blip r:embed="rId2"/>
          <a:stretch>
            <a:fillRect/>
          </a:stretch>
        </p:blipFill>
        <p:spPr>
          <a:xfrm>
            <a:off x="5084064" y="2039112"/>
            <a:ext cx="182880" cy="182880"/>
          </a:xfrm>
          <a:prstGeom prst="rect">
            <a:avLst/>
          </a:prstGeom>
        </p:spPr>
      </p:pic>
      <p:sp>
        <p:nvSpPr>
          <p:cNvPr id="14" name="Text 10"/>
          <p:cNvSpPr txBox="1"/>
          <p:nvPr/>
        </p:nvSpPr>
        <p:spPr>
          <a:xfrm>
            <a:off x="5532120" y="1920240"/>
            <a:ext cx="3063240" cy="237744"/>
          </a:xfrm>
          <a:prstGeom prst="rect">
            <a:avLst/>
          </a:prstGeom>
          <a:noFill/>
          <a:ln/>
        </p:spPr>
        <p:txBody>
          <a:bodyPr wrap="square" lIns="0" tIns="0" rIns="0" bIns="0" rtlCol="0" anchor="t"/>
          <a:lstStyle/>
          <a:p>
            <a:pPr indent="0" marL="0">
              <a:buNone/>
            </a:pPr>
            <a:r>
              <a:rPr lang="en-US" sz="1400" b="1" dirty="0">
                <a:solidFill>
                  <a:schemeClr val="tx2"/>
                </a:solidFill>
              </a:rPr>
              <a:t>Same question, same number</a:t>
            </a:r>
            <a:endParaRPr lang="en-US" sz="1400" dirty="0"/>
          </a:p>
        </p:txBody>
      </p:sp>
      <p:sp>
        <p:nvSpPr>
          <p:cNvPr id="15" name="Text 11"/>
          <p:cNvSpPr txBox="1"/>
          <p:nvPr/>
        </p:nvSpPr>
        <p:spPr>
          <a:xfrm>
            <a:off x="5532120" y="2157984"/>
            <a:ext cx="3063240" cy="237744"/>
          </a:xfrm>
          <a:prstGeom prst="rect">
            <a:avLst/>
          </a:prstGeom>
          <a:noFill/>
          <a:ln/>
        </p:spPr>
        <p:txBody>
          <a:bodyPr wrap="square" lIns="0" tIns="0" rIns="0" bIns="0" rtlCol="0" anchor="t"/>
          <a:lstStyle/>
          <a:p>
            <a:pPr indent="0" marL="0">
              <a:buNone/>
            </a:pPr>
            <a:r>
              <a:rPr lang="en-US" sz="1400" dirty="0">
                <a:solidFill>
                  <a:schemeClr val="tx1"/>
                </a:solidFill>
              </a:rPr>
              <a:t>One shared record for the whole team</a:t>
            </a:r>
            <a:endParaRPr lang="en-US" sz="1400" dirty="0"/>
          </a:p>
        </p:txBody>
      </p:sp>
      <p:pic>
        <p:nvPicPr>
          <p:cNvPr id="16" name="Image 2" descr="News and notices icon">    </p:cNvPr>
          <p:cNvPicPr>
            <a:picLocks noChangeAspect="1"/>
          </p:cNvPicPr>
          <p:nvPr/>
        </p:nvPicPr>
        <p:blipFill>
          <a:blip r:embed="rId3"/>
          <a:stretch>
            <a:fillRect/>
          </a:stretch>
        </p:blipFill>
        <p:spPr>
          <a:xfrm>
            <a:off x="713232" y="2578608"/>
            <a:ext cx="274320" cy="274320"/>
          </a:xfrm>
          <a:prstGeom prst="rect">
            <a:avLst/>
          </a:prstGeom>
        </p:spPr>
      </p:pic>
      <p:sp>
        <p:nvSpPr>
          <p:cNvPr id="17" name="Text 12"/>
          <p:cNvSpPr txBox="1"/>
          <p:nvPr/>
        </p:nvSpPr>
        <p:spPr>
          <a:xfrm>
            <a:off x="1143000" y="2505456"/>
            <a:ext cx="3154680" cy="237744"/>
          </a:xfrm>
          <a:prstGeom prst="rect">
            <a:avLst/>
          </a:prstGeom>
          <a:noFill/>
          <a:ln/>
        </p:spPr>
        <p:txBody>
          <a:bodyPr wrap="square" lIns="0" tIns="0" rIns="0" bIns="0" rtlCol="0" anchor="t"/>
          <a:lstStyle/>
          <a:p>
            <a:pPr indent="0" marL="0">
              <a:buNone/>
            </a:pPr>
            <a:r>
              <a:rPr lang="en-US" sz="1400" b="1" dirty="0">
                <a:solidFill>
                  <a:schemeClr val="bg1"/>
                </a:solidFill>
              </a:rPr>
              <a:t>News and notices</a:t>
            </a:r>
            <a:endParaRPr lang="en-US" sz="1400" dirty="0"/>
          </a:p>
        </p:txBody>
      </p:sp>
      <p:sp>
        <p:nvSpPr>
          <p:cNvPr id="18" name="Text 13"/>
          <p:cNvSpPr txBox="1"/>
          <p:nvPr/>
        </p:nvSpPr>
        <p:spPr>
          <a:xfrm>
            <a:off x="1143000" y="2743200"/>
            <a:ext cx="3154680" cy="237744"/>
          </a:xfrm>
          <a:prstGeom prst="rect">
            <a:avLst/>
          </a:prstGeom>
          <a:noFill/>
          <a:ln/>
        </p:spPr>
        <p:txBody>
          <a:bodyPr wrap="square" lIns="0" tIns="0" rIns="0" bIns="0" rtlCol="0" anchor="t"/>
          <a:lstStyle/>
          <a:p>
            <a:pPr indent="0" marL="0">
              <a:buNone/>
            </a:pPr>
            <a:r>
              <a:rPr lang="en-US" sz="1400" dirty="0">
                <a:solidFill>
                  <a:schemeClr val="bg2"/>
                </a:solidFill>
              </a:rPr>
              <a:t>Each story with its link and date</a:t>
            </a:r>
            <a:endParaRPr lang="en-US" sz="1400" dirty="0"/>
          </a:p>
        </p:txBody>
      </p:sp>
      <p:sp>
        <p:nvSpPr>
          <p:cNvPr id="19" name="Every figure is traceable icon circle"/>
          <p:cNvSpPr/>
          <p:nvPr/>
        </p:nvSpPr>
        <p:spPr>
          <a:xfrm>
            <a:off x="4983480" y="2523744"/>
            <a:ext cx="384048" cy="384048"/>
          </a:xfrm>
          <a:prstGeom prst="ellipse">
            <a:avLst/>
          </a:prstGeom>
          <a:solidFill>
            <a:schemeClr val="tx2"/>
          </a:solidFill>
          <a:ln w="12700">
            <a:solidFill>
              <a:schemeClr val="tx2"/>
            </a:solidFill>
            <a:prstDash val="solid"/>
          </a:ln>
        </p:spPr>
      </p:sp>
      <p:pic>
        <p:nvPicPr>
          <p:cNvPr id="20" name="Image 3" descr="Every figure is traceable icon">    </p:cNvPr>
          <p:cNvPicPr>
            <a:picLocks noChangeAspect="1"/>
          </p:cNvPicPr>
          <p:nvPr/>
        </p:nvPicPr>
        <p:blipFill>
          <a:blip r:embed="rId4"/>
          <a:stretch>
            <a:fillRect/>
          </a:stretch>
        </p:blipFill>
        <p:spPr>
          <a:xfrm>
            <a:off x="5084064" y="2624328"/>
            <a:ext cx="182880" cy="182880"/>
          </a:xfrm>
          <a:prstGeom prst="rect">
            <a:avLst/>
          </a:prstGeom>
        </p:spPr>
      </p:pic>
      <p:sp>
        <p:nvSpPr>
          <p:cNvPr id="21" name="Text 15"/>
          <p:cNvSpPr txBox="1"/>
          <p:nvPr/>
        </p:nvSpPr>
        <p:spPr>
          <a:xfrm>
            <a:off x="5532120" y="2505456"/>
            <a:ext cx="3063240" cy="237744"/>
          </a:xfrm>
          <a:prstGeom prst="rect">
            <a:avLst/>
          </a:prstGeom>
          <a:noFill/>
          <a:ln/>
        </p:spPr>
        <p:txBody>
          <a:bodyPr wrap="square" lIns="0" tIns="0" rIns="0" bIns="0" rtlCol="0" anchor="t"/>
          <a:lstStyle/>
          <a:p>
            <a:pPr indent="0" marL="0">
              <a:buNone/>
            </a:pPr>
            <a:r>
              <a:rPr lang="en-US" sz="1400" b="1" dirty="0">
                <a:solidFill>
                  <a:schemeClr val="tx2"/>
                </a:solidFill>
              </a:rPr>
              <a:t>Every figure is traceable</a:t>
            </a:r>
            <a:endParaRPr lang="en-US" sz="1400" dirty="0"/>
          </a:p>
        </p:txBody>
      </p:sp>
      <p:sp>
        <p:nvSpPr>
          <p:cNvPr id="22" name="Text 16"/>
          <p:cNvSpPr txBox="1"/>
          <p:nvPr/>
        </p:nvSpPr>
        <p:spPr>
          <a:xfrm>
            <a:off x="5532120" y="2743200"/>
            <a:ext cx="3063240" cy="237744"/>
          </a:xfrm>
          <a:prstGeom prst="rect">
            <a:avLst/>
          </a:prstGeom>
          <a:noFill/>
          <a:ln/>
        </p:spPr>
        <p:txBody>
          <a:bodyPr wrap="square" lIns="0" tIns="0" rIns="0" bIns="0" rtlCol="0" anchor="t"/>
          <a:lstStyle/>
          <a:p>
            <a:pPr indent="0" marL="0">
              <a:buNone/>
            </a:pPr>
            <a:r>
              <a:rPr lang="en-US" sz="1400" dirty="0">
                <a:solidFill>
                  <a:schemeClr val="tx1"/>
                </a:solidFill>
              </a:rPr>
              <a:t>One click opens the original source</a:t>
            </a:r>
            <a:endParaRPr lang="en-US" sz="1400" dirty="0"/>
          </a:p>
        </p:txBody>
      </p:sp>
      <p:pic>
        <p:nvPicPr>
          <p:cNvPr id="23" name="Image 4" descr="Our own records icon">    </p:cNvPr>
          <p:cNvPicPr>
            <a:picLocks noChangeAspect="1"/>
          </p:cNvPicPr>
          <p:nvPr/>
        </p:nvPicPr>
        <p:blipFill>
          <a:blip r:embed="rId5"/>
          <a:stretch>
            <a:fillRect/>
          </a:stretch>
        </p:blipFill>
        <p:spPr>
          <a:xfrm>
            <a:off x="713232" y="3163824"/>
            <a:ext cx="274320" cy="274320"/>
          </a:xfrm>
          <a:prstGeom prst="rect">
            <a:avLst/>
          </a:prstGeom>
        </p:spPr>
      </p:pic>
      <p:sp>
        <p:nvSpPr>
          <p:cNvPr id="24" name="Text 17"/>
          <p:cNvSpPr txBox="1"/>
          <p:nvPr/>
        </p:nvSpPr>
        <p:spPr>
          <a:xfrm>
            <a:off x="1143000" y="3090672"/>
            <a:ext cx="3154680" cy="237744"/>
          </a:xfrm>
          <a:prstGeom prst="rect">
            <a:avLst/>
          </a:prstGeom>
          <a:noFill/>
          <a:ln/>
        </p:spPr>
        <p:txBody>
          <a:bodyPr wrap="square" lIns="0" tIns="0" rIns="0" bIns="0" rtlCol="0" anchor="t"/>
          <a:lstStyle/>
          <a:p>
            <a:pPr indent="0" marL="0">
              <a:buNone/>
            </a:pPr>
            <a:r>
              <a:rPr lang="en-US" sz="1400" b="1" dirty="0">
                <a:solidFill>
                  <a:schemeClr val="bg1"/>
                </a:solidFill>
              </a:rPr>
              <a:t>Our own records</a:t>
            </a:r>
            <a:endParaRPr lang="en-US" sz="1400" dirty="0"/>
          </a:p>
        </p:txBody>
      </p:sp>
      <p:sp>
        <p:nvSpPr>
          <p:cNvPr id="25" name="Text 18"/>
          <p:cNvSpPr txBox="1"/>
          <p:nvPr/>
        </p:nvSpPr>
        <p:spPr>
          <a:xfrm>
            <a:off x="1143000" y="3328416"/>
            <a:ext cx="3154680" cy="237744"/>
          </a:xfrm>
          <a:prstGeom prst="rect">
            <a:avLst/>
          </a:prstGeom>
          <a:noFill/>
          <a:ln/>
        </p:spPr>
        <p:txBody>
          <a:bodyPr wrap="square" lIns="0" tIns="0" rIns="0" bIns="0" rtlCol="0" anchor="t"/>
          <a:lstStyle/>
          <a:p>
            <a:pPr indent="0" marL="0">
              <a:buNone/>
            </a:pPr>
            <a:r>
              <a:rPr lang="en-US" sz="1400" dirty="0">
                <a:solidFill>
                  <a:schemeClr val="bg2"/>
                </a:solidFill>
              </a:rPr>
              <a:t>Policies, committee notes, decisions</a:t>
            </a:r>
            <a:endParaRPr lang="en-US" sz="1400" dirty="0"/>
          </a:p>
        </p:txBody>
      </p:sp>
      <p:sp>
        <p:nvSpPr>
          <p:cNvPr id="26" name="Knowledge stays with the team icon circle"/>
          <p:cNvSpPr/>
          <p:nvPr/>
        </p:nvSpPr>
        <p:spPr>
          <a:xfrm>
            <a:off x="4983480" y="3108960"/>
            <a:ext cx="384048" cy="384048"/>
          </a:xfrm>
          <a:prstGeom prst="ellipse">
            <a:avLst/>
          </a:prstGeom>
          <a:solidFill>
            <a:schemeClr val="tx2"/>
          </a:solidFill>
          <a:ln w="12700">
            <a:solidFill>
              <a:schemeClr val="tx2"/>
            </a:solidFill>
            <a:prstDash val="solid"/>
          </a:ln>
        </p:spPr>
      </p:sp>
      <p:pic>
        <p:nvPicPr>
          <p:cNvPr id="27" name="Image 5" descr="Knowledge stays with the team icon">    </p:cNvPr>
          <p:cNvPicPr>
            <a:picLocks noChangeAspect="1"/>
          </p:cNvPicPr>
          <p:nvPr/>
        </p:nvPicPr>
        <p:blipFill>
          <a:blip r:embed="rId6"/>
          <a:stretch>
            <a:fillRect/>
          </a:stretch>
        </p:blipFill>
        <p:spPr>
          <a:xfrm>
            <a:off x="5084064" y="3209544"/>
            <a:ext cx="182880" cy="182880"/>
          </a:xfrm>
          <a:prstGeom prst="rect">
            <a:avLst/>
          </a:prstGeom>
        </p:spPr>
      </p:pic>
      <p:sp>
        <p:nvSpPr>
          <p:cNvPr id="28" name="Text 20"/>
          <p:cNvSpPr txBox="1"/>
          <p:nvPr/>
        </p:nvSpPr>
        <p:spPr>
          <a:xfrm>
            <a:off x="5532120" y="3090672"/>
            <a:ext cx="3063240" cy="237744"/>
          </a:xfrm>
          <a:prstGeom prst="rect">
            <a:avLst/>
          </a:prstGeom>
          <a:noFill/>
          <a:ln/>
        </p:spPr>
        <p:txBody>
          <a:bodyPr wrap="square" lIns="0" tIns="0" rIns="0" bIns="0" rtlCol="0" anchor="t"/>
          <a:lstStyle/>
          <a:p>
            <a:pPr indent="0" marL="0">
              <a:buNone/>
            </a:pPr>
            <a:r>
              <a:rPr lang="en-US" sz="1400" b="1" dirty="0">
                <a:solidFill>
                  <a:schemeClr val="tx2"/>
                </a:solidFill>
              </a:rPr>
              <a:t>Knowledge stays with the team</a:t>
            </a:r>
            <a:endParaRPr lang="en-US" sz="1400" dirty="0"/>
          </a:p>
        </p:txBody>
      </p:sp>
      <p:sp>
        <p:nvSpPr>
          <p:cNvPr id="29" name="Text 21"/>
          <p:cNvSpPr txBox="1"/>
          <p:nvPr/>
        </p:nvSpPr>
        <p:spPr>
          <a:xfrm>
            <a:off x="5532120" y="3328416"/>
            <a:ext cx="3063240" cy="237744"/>
          </a:xfrm>
          <a:prstGeom prst="rect">
            <a:avLst/>
          </a:prstGeom>
          <a:noFill/>
          <a:ln/>
        </p:spPr>
        <p:txBody>
          <a:bodyPr wrap="square" lIns="0" tIns="0" rIns="0" bIns="0" rtlCol="0" anchor="t"/>
          <a:lstStyle/>
          <a:p>
            <a:pPr indent="0" marL="0">
              <a:buNone/>
            </a:pPr>
            <a:r>
              <a:rPr lang="en-US" sz="1400" dirty="0">
                <a:solidFill>
                  <a:schemeClr val="tx1"/>
                </a:solidFill>
              </a:rPr>
              <a:t>Past decisions stay searchable</a:t>
            </a:r>
            <a:endParaRPr lang="en-US" sz="1400" dirty="0"/>
          </a:p>
        </p:txBody>
      </p:sp>
      <p:pic>
        <p:nvPicPr>
          <p:cNvPr id="30" name="Image 6" descr="The team's calls icon">    </p:cNvPr>
          <p:cNvPicPr>
            <a:picLocks noChangeAspect="1"/>
          </p:cNvPicPr>
          <p:nvPr/>
        </p:nvPicPr>
        <p:blipFill>
          <a:blip r:embed="rId7"/>
          <a:stretch>
            <a:fillRect/>
          </a:stretch>
        </p:blipFill>
        <p:spPr>
          <a:xfrm>
            <a:off x="713232" y="3749040"/>
            <a:ext cx="274320" cy="274320"/>
          </a:xfrm>
          <a:prstGeom prst="rect">
            <a:avLst/>
          </a:prstGeom>
        </p:spPr>
      </p:pic>
      <p:sp>
        <p:nvSpPr>
          <p:cNvPr id="31" name="Text 22"/>
          <p:cNvSpPr txBox="1"/>
          <p:nvPr/>
        </p:nvSpPr>
        <p:spPr>
          <a:xfrm>
            <a:off x="1143000" y="3675888"/>
            <a:ext cx="3154680" cy="237744"/>
          </a:xfrm>
          <a:prstGeom prst="rect">
            <a:avLst/>
          </a:prstGeom>
          <a:noFill/>
          <a:ln/>
        </p:spPr>
        <p:txBody>
          <a:bodyPr wrap="square" lIns="0" tIns="0" rIns="0" bIns="0" rtlCol="0" anchor="t"/>
          <a:lstStyle/>
          <a:p>
            <a:pPr indent="0" marL="0">
              <a:buNone/>
            </a:pPr>
            <a:r>
              <a:rPr lang="en-US" sz="1400" b="1" dirty="0">
                <a:solidFill>
                  <a:schemeClr val="bg1"/>
                </a:solidFill>
              </a:rPr>
              <a:t>The team's calls</a:t>
            </a:r>
            <a:endParaRPr lang="en-US" sz="1400" dirty="0"/>
          </a:p>
        </p:txBody>
      </p:sp>
      <p:sp>
        <p:nvSpPr>
          <p:cNvPr id="32" name="Text 23"/>
          <p:cNvSpPr txBox="1"/>
          <p:nvPr/>
        </p:nvSpPr>
        <p:spPr>
          <a:xfrm>
            <a:off x="1143000" y="3913632"/>
            <a:ext cx="3154680" cy="237744"/>
          </a:xfrm>
          <a:prstGeom prst="rect">
            <a:avLst/>
          </a:prstGeom>
          <a:noFill/>
          <a:ln/>
        </p:spPr>
        <p:txBody>
          <a:bodyPr wrap="square" lIns="0" tIns="0" rIns="0" bIns="0" rtlCol="0" anchor="t"/>
          <a:lstStyle/>
          <a:p>
            <a:pPr indent="0" marL="0">
              <a:buNone/>
            </a:pPr>
            <a:r>
              <a:rPr lang="en-US" sz="1400" dirty="0">
                <a:solidFill>
                  <a:schemeClr val="bg2"/>
                </a:solidFill>
              </a:rPr>
              <a:t>Every approve or reject, and why</a:t>
            </a:r>
            <a:endParaRPr lang="en-US" sz="1400" dirty="0"/>
          </a:p>
        </p:txBody>
      </p:sp>
      <p:sp>
        <p:nvSpPr>
          <p:cNvPr id="33" name="It grows in value icon circle"/>
          <p:cNvSpPr/>
          <p:nvPr/>
        </p:nvSpPr>
        <p:spPr>
          <a:xfrm>
            <a:off x="4983480" y="3694176"/>
            <a:ext cx="384048" cy="384048"/>
          </a:xfrm>
          <a:prstGeom prst="ellipse">
            <a:avLst/>
          </a:prstGeom>
          <a:solidFill>
            <a:schemeClr val="tx2"/>
          </a:solidFill>
          <a:ln w="12700">
            <a:solidFill>
              <a:schemeClr val="tx2"/>
            </a:solidFill>
            <a:prstDash val="solid"/>
          </a:ln>
        </p:spPr>
      </p:sp>
      <p:pic>
        <p:nvPicPr>
          <p:cNvPr id="34" name="Image 7" descr="It grows in value icon">    </p:cNvPr>
          <p:cNvPicPr>
            <a:picLocks noChangeAspect="1"/>
          </p:cNvPicPr>
          <p:nvPr/>
        </p:nvPicPr>
        <p:blipFill>
          <a:blip r:embed="rId8"/>
          <a:stretch>
            <a:fillRect/>
          </a:stretch>
        </p:blipFill>
        <p:spPr>
          <a:xfrm>
            <a:off x="5084064" y="3794760"/>
            <a:ext cx="182880" cy="182880"/>
          </a:xfrm>
          <a:prstGeom prst="rect">
            <a:avLst/>
          </a:prstGeom>
        </p:spPr>
      </p:pic>
      <p:sp>
        <p:nvSpPr>
          <p:cNvPr id="35" name="Text 25"/>
          <p:cNvSpPr txBox="1"/>
          <p:nvPr/>
        </p:nvSpPr>
        <p:spPr>
          <a:xfrm>
            <a:off x="5532120" y="3675888"/>
            <a:ext cx="3063240" cy="237744"/>
          </a:xfrm>
          <a:prstGeom prst="rect">
            <a:avLst/>
          </a:prstGeom>
          <a:noFill/>
          <a:ln/>
        </p:spPr>
        <p:txBody>
          <a:bodyPr wrap="square" lIns="0" tIns="0" rIns="0" bIns="0" rtlCol="0" anchor="t"/>
          <a:lstStyle/>
          <a:p>
            <a:pPr indent="0" marL="0">
              <a:buNone/>
            </a:pPr>
            <a:r>
              <a:rPr lang="en-US" sz="1400" b="1" dirty="0">
                <a:solidFill>
                  <a:schemeClr val="tx2"/>
                </a:solidFill>
              </a:rPr>
              <a:t>It grows in value</a:t>
            </a:r>
            <a:endParaRPr lang="en-US" sz="1400" dirty="0"/>
          </a:p>
        </p:txBody>
      </p:sp>
      <p:sp>
        <p:nvSpPr>
          <p:cNvPr id="36" name="Text 26"/>
          <p:cNvSpPr txBox="1"/>
          <p:nvPr/>
        </p:nvSpPr>
        <p:spPr>
          <a:xfrm>
            <a:off x="5532120" y="3913632"/>
            <a:ext cx="3063240" cy="237744"/>
          </a:xfrm>
          <a:prstGeom prst="rect">
            <a:avLst/>
          </a:prstGeom>
          <a:noFill/>
          <a:ln/>
        </p:spPr>
        <p:txBody>
          <a:bodyPr wrap="square" lIns="0" tIns="0" rIns="0" bIns="0" rtlCol="0" anchor="t"/>
          <a:lstStyle/>
          <a:p>
            <a:pPr indent="0" marL="0">
              <a:buNone/>
            </a:pPr>
            <a:r>
              <a:rPr lang="en-US" sz="1400" dirty="0">
                <a:solidFill>
                  <a:schemeClr val="tx1"/>
                </a:solidFill>
              </a:rPr>
              <a:t>History builds; new sources plug in</a:t>
            </a:r>
            <a:endParaRPr lang="en-US" sz="1400" dirty="0"/>
          </a:p>
        </p:txBody>
      </p:sp>
      <p:sp>
        <p:nvSpPr>
          <p:cNvPr id="37" name="Footnote"/>
          <p:cNvSpPr txBox="1"/>
          <p:nvPr/>
        </p:nvSpPr>
        <p:spPr>
          <a:xfrm>
            <a:off x="457200" y="4434840"/>
            <a:ext cx="8229600" cy="292608"/>
          </a:xfrm>
          <a:prstGeom prst="rect">
            <a:avLst/>
          </a:prstGeom>
          <a:noFill/>
          <a:ln/>
        </p:spPr>
        <p:txBody>
          <a:bodyPr wrap="square" lIns="0" tIns="0" rIns="0" bIns="0" rtlCol="0" anchor="t"/>
          <a:lstStyle/>
          <a:p>
            <a:pPr indent="0" marL="0">
              <a:buNone/>
            </a:pPr>
            <a:r>
              <a:rPr lang="en-US" sz="1000" dirty="0">
                <a:solidFill>
                  <a:schemeClr val="accent6"/>
                </a:solidFill>
              </a:rPr>
              <a:t>Broker figures come from JLL, Savills, BNP Paribas, Cushman &amp; Wakefield, CBRE and Avison Young. In the demo, the internal records are mock examples; real ones need an access review before loading.</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l"/>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latin typeface="Calibri" pitchFamily="34" charset="0"/>
                <a:ea typeface="Calibri" pitchFamily="34" charset="-122"/>
                <a:cs typeface="Calibri" pitchFamily="34" charset="-120"/>
              </a:rPr>
              <a:t>3 · OPPORTUNITY DISCOVERY</a:t>
            </a: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Spots opportunities that fit Nan Fung</a:t>
            </a:r>
            <a:endParaRPr lang="en-US" sz="2800" dirty="0"/>
          </a:p>
        </p:txBody>
      </p:sp>
      <p:sp>
        <p:nvSpPr>
          <p:cNvPr id="4" name="Why early"/>
          <p:cNvSpPr txBox="1"/>
          <p:nvPr/>
        </p:nvSpPr>
        <p:spPr>
          <a:xfrm>
            <a:off x="457200" y="1280160"/>
            <a:ext cx="8229600" cy="274320"/>
          </a:xfrm>
          <a:prstGeom prst="rect">
            <a:avLst/>
          </a:prstGeom>
          <a:noFill/>
          <a:ln/>
        </p:spPr>
        <p:txBody>
          <a:bodyPr wrap="square" lIns="0" tIns="0" rIns="0" bIns="0" rtlCol="0" anchor="t"/>
          <a:lstStyle/>
          <a:p>
            <a:pPr indent="0" marL="0">
              <a:buNone/>
            </a:pPr>
            <a:r>
              <a:rPr lang="en-US" sz="1500" i="1" dirty="0">
                <a:solidFill>
                  <a:schemeClr val="accent6"/>
                </a:solidFill>
              </a:rPr>
              <a:t>Most London office deals trade off-market, so hearing early matters.</a:t>
            </a:r>
            <a:endParaRPr lang="en-US" sz="1500" dirty="0"/>
          </a:p>
        </p:txBody>
      </p:sp>
      <p:sp>
        <p:nvSpPr>
          <p:cNvPr id="5" name="Step 1 circle"/>
          <p:cNvSpPr/>
          <p:nvPr/>
        </p:nvSpPr>
        <p:spPr>
          <a:xfrm>
            <a:off x="457200" y="1783080"/>
            <a:ext cx="384048" cy="384048"/>
          </a:xfrm>
          <a:prstGeom prst="ellipse">
            <a:avLst/>
          </a:prstGeom>
          <a:solidFill>
            <a:schemeClr val="accent1"/>
          </a:solidFill>
          <a:ln w="12700">
            <a:solidFill>
              <a:schemeClr val="accent1"/>
            </a:solidFill>
            <a:prstDash val="solid"/>
          </a:ln>
        </p:spPr>
      </p:sp>
      <p:sp>
        <p:nvSpPr>
          <p:cNvPr id="6" name="Text 4"/>
          <p:cNvSpPr txBox="1"/>
          <p:nvPr/>
        </p:nvSpPr>
        <p:spPr>
          <a:xfrm>
            <a:off x="457200" y="178308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1</a:t>
            </a:r>
            <a:endParaRPr lang="en-US" sz="1400" dirty="0"/>
          </a:p>
        </p:txBody>
      </p:sp>
      <p:sp>
        <p:nvSpPr>
          <p:cNvPr id="7" name="Text 5"/>
          <p:cNvSpPr txBox="1"/>
          <p:nvPr/>
        </p:nvSpPr>
        <p:spPr>
          <a:xfrm>
            <a:off x="978408" y="1755648"/>
            <a:ext cx="3429000" cy="246888"/>
          </a:xfrm>
          <a:prstGeom prst="rect">
            <a:avLst/>
          </a:prstGeom>
          <a:noFill/>
          <a:ln/>
        </p:spPr>
        <p:txBody>
          <a:bodyPr wrap="square" lIns="0" tIns="0" rIns="0" bIns="0" rtlCol="0" anchor="t"/>
          <a:lstStyle/>
          <a:p>
            <a:pPr indent="0" marL="0">
              <a:buNone/>
            </a:pPr>
            <a:r>
              <a:rPr lang="en-US" sz="1500" b="1" dirty="0">
                <a:solidFill>
                  <a:schemeClr val="tx2"/>
                </a:solidFill>
              </a:rPr>
              <a:t>Reads</a:t>
            </a:r>
            <a:endParaRPr lang="en-US" sz="1500" dirty="0"/>
          </a:p>
        </p:txBody>
      </p:sp>
      <p:sp>
        <p:nvSpPr>
          <p:cNvPr id="8" name="Text 6"/>
          <p:cNvSpPr txBox="1"/>
          <p:nvPr/>
        </p:nvSpPr>
        <p:spPr>
          <a:xfrm>
            <a:off x="978408" y="2002536"/>
            <a:ext cx="3429000" cy="246888"/>
          </a:xfrm>
          <a:prstGeom prst="rect">
            <a:avLst/>
          </a:prstGeom>
          <a:noFill/>
          <a:ln/>
        </p:spPr>
        <p:txBody>
          <a:bodyPr wrap="square" lIns="0" tIns="0" rIns="0" bIns="0" rtlCol="0" anchor="t"/>
          <a:lstStyle/>
          <a:p>
            <a:pPr indent="0" marL="0">
              <a:buNone/>
            </a:pPr>
            <a:r>
              <a:rPr lang="en-US" sz="1400" dirty="0">
                <a:solidFill>
                  <a:schemeClr val="tx1"/>
                </a:solidFill>
              </a:rPr>
              <a:t>The week's news and insolvency notices</a:t>
            </a:r>
            <a:endParaRPr lang="en-US" sz="1400" dirty="0"/>
          </a:p>
        </p:txBody>
      </p:sp>
      <p:sp>
        <p:nvSpPr>
          <p:cNvPr id="9" name="Step 2 circle"/>
          <p:cNvSpPr/>
          <p:nvPr/>
        </p:nvSpPr>
        <p:spPr>
          <a:xfrm>
            <a:off x="457200" y="2423160"/>
            <a:ext cx="384048" cy="384048"/>
          </a:xfrm>
          <a:prstGeom prst="ellipse">
            <a:avLst/>
          </a:prstGeom>
          <a:solidFill>
            <a:schemeClr val="accent1"/>
          </a:solidFill>
          <a:ln w="12700">
            <a:solidFill>
              <a:schemeClr val="accent1"/>
            </a:solidFill>
            <a:prstDash val="solid"/>
          </a:ln>
        </p:spPr>
      </p:sp>
      <p:sp>
        <p:nvSpPr>
          <p:cNvPr id="10" name="Text 8"/>
          <p:cNvSpPr txBox="1"/>
          <p:nvPr/>
        </p:nvSpPr>
        <p:spPr>
          <a:xfrm>
            <a:off x="457200" y="242316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2</a:t>
            </a:r>
            <a:endParaRPr lang="en-US" sz="1400" dirty="0"/>
          </a:p>
        </p:txBody>
      </p:sp>
      <p:sp>
        <p:nvSpPr>
          <p:cNvPr id="11" name="Text 9"/>
          <p:cNvSpPr txBox="1"/>
          <p:nvPr/>
        </p:nvSpPr>
        <p:spPr>
          <a:xfrm>
            <a:off x="978408" y="2395728"/>
            <a:ext cx="3429000" cy="246888"/>
          </a:xfrm>
          <a:prstGeom prst="rect">
            <a:avLst/>
          </a:prstGeom>
          <a:noFill/>
          <a:ln/>
        </p:spPr>
        <p:txBody>
          <a:bodyPr wrap="square" lIns="0" tIns="0" rIns="0" bIns="0" rtlCol="0" anchor="t"/>
          <a:lstStyle/>
          <a:p>
            <a:pPr indent="0" marL="0">
              <a:buNone/>
            </a:pPr>
            <a:r>
              <a:rPr lang="en-US" sz="1500" b="1" dirty="0">
                <a:solidFill>
                  <a:schemeClr val="tx2"/>
                </a:solidFill>
              </a:rPr>
              <a:t>Matches</a:t>
            </a:r>
            <a:endParaRPr lang="en-US" sz="1500" dirty="0"/>
          </a:p>
        </p:txBody>
      </p:sp>
      <p:sp>
        <p:nvSpPr>
          <p:cNvPr id="12" name="Text 10"/>
          <p:cNvSpPr txBox="1"/>
          <p:nvPr/>
        </p:nvSpPr>
        <p:spPr>
          <a:xfrm>
            <a:off x="978408" y="2642616"/>
            <a:ext cx="3429000" cy="246888"/>
          </a:xfrm>
          <a:prstGeom prst="rect">
            <a:avLst/>
          </a:prstGeom>
          <a:noFill/>
          <a:ln/>
        </p:spPr>
        <p:txBody>
          <a:bodyPr wrap="square" lIns="0" tIns="0" rIns="0" bIns="0" rtlCol="0" anchor="t"/>
          <a:lstStyle/>
          <a:p>
            <a:pPr indent="0" marL="0">
              <a:buNone/>
            </a:pPr>
            <a:r>
              <a:rPr lang="en-US" sz="1400" dirty="0">
                <a:solidFill>
                  <a:schemeClr val="tx1"/>
                </a:solidFill>
              </a:rPr>
              <a:t>Against our mandate and our buildings</a:t>
            </a:r>
            <a:endParaRPr lang="en-US" sz="1400" dirty="0"/>
          </a:p>
        </p:txBody>
      </p:sp>
      <p:sp>
        <p:nvSpPr>
          <p:cNvPr id="13" name="Step 3 circle"/>
          <p:cNvSpPr/>
          <p:nvPr/>
        </p:nvSpPr>
        <p:spPr>
          <a:xfrm>
            <a:off x="457200" y="3063240"/>
            <a:ext cx="384048" cy="384048"/>
          </a:xfrm>
          <a:prstGeom prst="ellipse">
            <a:avLst/>
          </a:prstGeom>
          <a:solidFill>
            <a:schemeClr val="accent1"/>
          </a:solidFill>
          <a:ln w="12700">
            <a:solidFill>
              <a:schemeClr val="accent1"/>
            </a:solidFill>
            <a:prstDash val="solid"/>
          </a:ln>
        </p:spPr>
      </p:sp>
      <p:sp>
        <p:nvSpPr>
          <p:cNvPr id="14" name="Text 12"/>
          <p:cNvSpPr txBox="1"/>
          <p:nvPr/>
        </p:nvSpPr>
        <p:spPr>
          <a:xfrm>
            <a:off x="457200" y="306324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3</a:t>
            </a:r>
            <a:endParaRPr lang="en-US" sz="1400" dirty="0"/>
          </a:p>
        </p:txBody>
      </p:sp>
      <p:sp>
        <p:nvSpPr>
          <p:cNvPr id="15" name="Text 13"/>
          <p:cNvSpPr txBox="1"/>
          <p:nvPr/>
        </p:nvSpPr>
        <p:spPr>
          <a:xfrm>
            <a:off x="978408" y="3035808"/>
            <a:ext cx="3429000" cy="246888"/>
          </a:xfrm>
          <a:prstGeom prst="rect">
            <a:avLst/>
          </a:prstGeom>
          <a:noFill/>
          <a:ln/>
        </p:spPr>
        <p:txBody>
          <a:bodyPr wrap="square" lIns="0" tIns="0" rIns="0" bIns="0" rtlCol="0" anchor="t"/>
          <a:lstStyle/>
          <a:p>
            <a:pPr indent="0" marL="0">
              <a:buNone/>
            </a:pPr>
            <a:r>
              <a:rPr lang="en-US" sz="1500" b="1" dirty="0">
                <a:solidFill>
                  <a:schemeClr val="tx2"/>
                </a:solidFill>
              </a:rPr>
              <a:t>Investigates</a:t>
            </a:r>
            <a:endParaRPr lang="en-US" sz="1500" dirty="0"/>
          </a:p>
        </p:txBody>
      </p:sp>
      <p:sp>
        <p:nvSpPr>
          <p:cNvPr id="16" name="Text 14"/>
          <p:cNvSpPr txBox="1"/>
          <p:nvPr/>
        </p:nvSpPr>
        <p:spPr>
          <a:xfrm>
            <a:off x="978408" y="3282696"/>
            <a:ext cx="3429000" cy="246888"/>
          </a:xfrm>
          <a:prstGeom prst="rect">
            <a:avLst/>
          </a:prstGeom>
          <a:noFill/>
          <a:ln/>
        </p:spPr>
        <p:txBody>
          <a:bodyPr wrap="square" lIns="0" tIns="0" rIns="0" bIns="0" rtlCol="0" anchor="t"/>
          <a:lstStyle/>
          <a:p>
            <a:pPr indent="0" marL="0">
              <a:buNone/>
            </a:pPr>
            <a:r>
              <a:rPr lang="en-US" sz="1400" dirty="0">
                <a:solidFill>
                  <a:schemeClr val="tx1"/>
                </a:solidFill>
              </a:rPr>
              <a:t>Up to five leads, each double-checked</a:t>
            </a:r>
            <a:endParaRPr lang="en-US" sz="1400" dirty="0"/>
          </a:p>
        </p:txBody>
      </p:sp>
      <p:sp>
        <p:nvSpPr>
          <p:cNvPr id="17" name="Step 4 circle"/>
          <p:cNvSpPr/>
          <p:nvPr/>
        </p:nvSpPr>
        <p:spPr>
          <a:xfrm>
            <a:off x="457200" y="3703320"/>
            <a:ext cx="384048" cy="384048"/>
          </a:xfrm>
          <a:prstGeom prst="ellipse">
            <a:avLst/>
          </a:prstGeom>
          <a:solidFill>
            <a:schemeClr val="accent1"/>
          </a:solidFill>
          <a:ln w="12700">
            <a:solidFill>
              <a:schemeClr val="accent1"/>
            </a:solidFill>
            <a:prstDash val="solid"/>
          </a:ln>
        </p:spPr>
      </p:sp>
      <p:sp>
        <p:nvSpPr>
          <p:cNvPr id="18" name="Text 16"/>
          <p:cNvSpPr txBox="1"/>
          <p:nvPr/>
        </p:nvSpPr>
        <p:spPr>
          <a:xfrm>
            <a:off x="457200" y="3703320"/>
            <a:ext cx="384048" cy="384048"/>
          </a:xfrm>
          <a:prstGeom prst="rect">
            <a:avLst/>
          </a:prstGeom>
          <a:noFill/>
          <a:ln/>
        </p:spPr>
        <p:txBody>
          <a:bodyPr wrap="square" lIns="0" tIns="0" rIns="0" bIns="0" rtlCol="0" anchor="ctr"/>
          <a:lstStyle/>
          <a:p>
            <a:pPr algn="ctr" indent="0" marL="0">
              <a:buNone/>
            </a:pPr>
            <a:r>
              <a:rPr lang="en-US" sz="1400" b="1" dirty="0">
                <a:solidFill>
                  <a:schemeClr val="bg1"/>
                </a:solidFill>
              </a:rPr>
              <a:t>4</a:t>
            </a:r>
            <a:endParaRPr lang="en-US" sz="1400" dirty="0"/>
          </a:p>
        </p:txBody>
      </p:sp>
      <p:sp>
        <p:nvSpPr>
          <p:cNvPr id="19" name="Text 17"/>
          <p:cNvSpPr txBox="1"/>
          <p:nvPr/>
        </p:nvSpPr>
        <p:spPr>
          <a:xfrm>
            <a:off x="978408" y="3675888"/>
            <a:ext cx="3429000" cy="246888"/>
          </a:xfrm>
          <a:prstGeom prst="rect">
            <a:avLst/>
          </a:prstGeom>
          <a:noFill/>
          <a:ln/>
        </p:spPr>
        <p:txBody>
          <a:bodyPr wrap="square" lIns="0" tIns="0" rIns="0" bIns="0" rtlCol="0" anchor="t"/>
          <a:lstStyle/>
          <a:p>
            <a:pPr indent="0" marL="0">
              <a:buNone/>
            </a:pPr>
            <a:r>
              <a:rPr lang="en-US" sz="1500" b="1" dirty="0">
                <a:solidFill>
                  <a:schemeClr val="tx2"/>
                </a:solidFill>
              </a:rPr>
              <a:t>You decide</a:t>
            </a:r>
            <a:endParaRPr lang="en-US" sz="1500" dirty="0"/>
          </a:p>
        </p:txBody>
      </p:sp>
      <p:sp>
        <p:nvSpPr>
          <p:cNvPr id="20" name="Text 18"/>
          <p:cNvSpPr txBox="1"/>
          <p:nvPr/>
        </p:nvSpPr>
        <p:spPr>
          <a:xfrm>
            <a:off x="978408" y="3922776"/>
            <a:ext cx="3429000" cy="246888"/>
          </a:xfrm>
          <a:prstGeom prst="rect">
            <a:avLst/>
          </a:prstGeom>
          <a:noFill/>
          <a:ln/>
        </p:spPr>
        <p:txBody>
          <a:bodyPr wrap="square" lIns="0" tIns="0" rIns="0" bIns="0" rtlCol="0" anchor="t"/>
          <a:lstStyle/>
          <a:p>
            <a:pPr indent="0" marL="0">
              <a:buNone/>
            </a:pPr>
            <a:r>
              <a:rPr lang="en-US" sz="1400" dirty="0">
                <a:solidFill>
                  <a:schemeClr val="tx1"/>
                </a:solidFill>
              </a:rPr>
              <a:t>Only approved cards reach the team</a:t>
            </a:r>
            <a:endParaRPr lang="en-US" sz="1400" dirty="0"/>
          </a:p>
        </p:txBody>
      </p:sp>
      <p:sp>
        <p:nvSpPr>
          <p:cNvPr id="21" name="Example opportunity card"/>
          <p:cNvSpPr/>
          <p:nvPr/>
        </p:nvSpPr>
        <p:spPr>
          <a:xfrm>
            <a:off x="4526280" y="1691640"/>
            <a:ext cx="4160520" cy="2670048"/>
          </a:xfrm>
          <a:prstGeom prst="roundRect">
            <a:avLst>
              <a:gd name="adj" fmla="val 2055"/>
            </a:avLst>
          </a:prstGeom>
          <a:solidFill>
            <a:schemeClr val="bg1"/>
          </a:solidFill>
          <a:ln w="12700">
            <a:solidFill>
              <a:schemeClr val="bg2"/>
            </a:solidFill>
            <a:prstDash val="solid"/>
          </a:ln>
          <a:effectLst>
            <a:outerShdw sx="100000" sy="100000" kx="0" ky="0" algn="bl" rotWithShape="0" blurRad="76200" dist="25400" dir="5400000">
              <a:srgbClr val="000000">
                <a:alpha val="25000"/>
              </a:srgbClr>
            </a:outerShdw>
          </a:effectLst>
        </p:spPr>
      </p:sp>
      <p:sp>
        <p:nvSpPr>
          <p:cNvPr id="22" name="Text 20"/>
          <p:cNvSpPr txBox="1"/>
          <p:nvPr/>
        </p:nvSpPr>
        <p:spPr>
          <a:xfrm>
            <a:off x="4727448" y="1819656"/>
            <a:ext cx="3758184" cy="201168"/>
          </a:xfrm>
          <a:prstGeom prst="rect">
            <a:avLst/>
          </a:prstGeom>
          <a:noFill/>
          <a:ln/>
        </p:spPr>
        <p:txBody>
          <a:bodyPr wrap="square" lIns="0" tIns="0" rIns="0" bIns="0" rtlCol="0" anchor="t"/>
          <a:lstStyle/>
          <a:p>
            <a:pPr indent="0" marL="0">
              <a:buNone/>
            </a:pPr>
            <a:r>
              <a:rPr lang="en-US" sz="1000" b="1" spc="100" kern="0" dirty="0">
                <a:solidFill>
                  <a:schemeClr val="accent6"/>
                </a:solidFill>
              </a:rPr>
              <a:t>EXAMPLE FROM THE DEMO · TEST DATA</a:t>
            </a:r>
            <a:endParaRPr lang="en-US" sz="1000" dirty="0"/>
          </a:p>
        </p:txBody>
      </p:sp>
      <p:sp>
        <p:nvSpPr>
          <p:cNvPr id="23" name="Owner under pressure tag"/>
          <p:cNvSpPr/>
          <p:nvPr/>
        </p:nvSpPr>
        <p:spPr>
          <a:xfrm>
            <a:off x="4727448" y="2093976"/>
            <a:ext cx="1600200" cy="237744"/>
          </a:xfrm>
          <a:prstGeom prst="roundRect">
            <a:avLst>
              <a:gd name="adj" fmla="val 19231"/>
            </a:avLst>
          </a:prstGeom>
          <a:solidFill>
            <a:schemeClr val="bg2"/>
          </a:solidFill>
          <a:ln w="12700">
            <a:solidFill>
              <a:schemeClr val="bg2"/>
            </a:solidFill>
            <a:prstDash val="solid"/>
          </a:ln>
        </p:spPr>
      </p:sp>
      <p:sp>
        <p:nvSpPr>
          <p:cNvPr id="24" name="Text 22"/>
          <p:cNvSpPr txBox="1"/>
          <p:nvPr/>
        </p:nvSpPr>
        <p:spPr>
          <a:xfrm>
            <a:off x="4727448" y="2093976"/>
            <a:ext cx="1600200" cy="237744"/>
          </a:xfrm>
          <a:prstGeom prst="rect">
            <a:avLst/>
          </a:prstGeom>
          <a:noFill/>
          <a:ln/>
        </p:spPr>
        <p:txBody>
          <a:bodyPr wrap="square" lIns="0" tIns="0" rIns="0" bIns="0" rtlCol="0" anchor="ctr"/>
          <a:lstStyle/>
          <a:p>
            <a:pPr algn="ctr" indent="0" marL="0">
              <a:buNone/>
            </a:pPr>
            <a:r>
              <a:rPr lang="en-US" sz="1100" b="1" dirty="0">
                <a:solidFill>
                  <a:schemeClr val="accent6"/>
                </a:solidFill>
              </a:rPr>
              <a:t>Owner under pressure</a:t>
            </a:r>
            <a:endParaRPr lang="en-US" sz="1100" dirty="0"/>
          </a:p>
        </p:txBody>
      </p:sp>
      <p:sp>
        <p:nvSpPr>
          <p:cNvPr id="25" name="City Core tag"/>
          <p:cNvSpPr/>
          <p:nvPr/>
        </p:nvSpPr>
        <p:spPr>
          <a:xfrm>
            <a:off x="6419088" y="2093976"/>
            <a:ext cx="822960" cy="237744"/>
          </a:xfrm>
          <a:prstGeom prst="roundRect">
            <a:avLst>
              <a:gd name="adj" fmla="val 19231"/>
            </a:avLst>
          </a:prstGeom>
          <a:solidFill>
            <a:schemeClr val="bg2"/>
          </a:solidFill>
          <a:ln w="12700">
            <a:solidFill>
              <a:schemeClr val="bg2"/>
            </a:solidFill>
            <a:prstDash val="solid"/>
          </a:ln>
        </p:spPr>
      </p:sp>
      <p:sp>
        <p:nvSpPr>
          <p:cNvPr id="26" name="Text 24"/>
          <p:cNvSpPr txBox="1"/>
          <p:nvPr/>
        </p:nvSpPr>
        <p:spPr>
          <a:xfrm>
            <a:off x="6419088" y="2093976"/>
            <a:ext cx="822960" cy="237744"/>
          </a:xfrm>
          <a:prstGeom prst="rect">
            <a:avLst/>
          </a:prstGeom>
          <a:noFill/>
          <a:ln/>
        </p:spPr>
        <p:txBody>
          <a:bodyPr wrap="square" lIns="0" tIns="0" rIns="0" bIns="0" rtlCol="0" anchor="ctr"/>
          <a:lstStyle/>
          <a:p>
            <a:pPr algn="ctr" indent="0" marL="0">
              <a:buNone/>
            </a:pPr>
            <a:r>
              <a:rPr lang="en-US" sz="1100" b="1" dirty="0">
                <a:solidFill>
                  <a:schemeClr val="accent6"/>
                </a:solidFill>
              </a:rPr>
              <a:t>City Core</a:t>
            </a:r>
            <a:endParaRPr lang="en-US" sz="1100" dirty="0"/>
          </a:p>
        </p:txBody>
      </p:sp>
      <p:sp>
        <p:nvSpPr>
          <p:cNvPr id="27" name="Text 25"/>
          <p:cNvSpPr txBox="1"/>
          <p:nvPr/>
        </p:nvSpPr>
        <p:spPr>
          <a:xfrm>
            <a:off x="4727448" y="2423160"/>
            <a:ext cx="3758184" cy="457200"/>
          </a:xfrm>
          <a:prstGeom prst="rect">
            <a:avLst/>
          </a:prstGeom>
          <a:noFill/>
          <a:ln/>
        </p:spPr>
        <p:txBody>
          <a:bodyPr wrap="square" lIns="0" tIns="0" rIns="0" bIns="0" rtlCol="0" anchor="t"/>
          <a:lstStyle/>
          <a:p>
            <a:pPr indent="0" marL="0">
              <a:buNone/>
            </a:pPr>
            <a:r>
              <a:rPr lang="en-US" sz="1400" b="1" dirty="0">
                <a:solidFill>
                  <a:schemeClr val="tx2"/>
                </a:solidFill>
              </a:rPr>
              <a:t>Administrators appointed to the owner of a 45,000 sq ft City office</a:t>
            </a:r>
            <a:endParaRPr lang="en-US" sz="1400" dirty="0"/>
          </a:p>
        </p:txBody>
      </p:sp>
      <p:sp>
        <p:nvSpPr>
          <p:cNvPr id="28" name="Text 26"/>
          <p:cNvSpPr txBox="1"/>
          <p:nvPr/>
        </p:nvSpPr>
        <p:spPr>
          <a:xfrm>
            <a:off x="4727448" y="2953512"/>
            <a:ext cx="3758184" cy="402336"/>
          </a:xfrm>
          <a:prstGeom prst="rect">
            <a:avLst/>
          </a:prstGeom>
          <a:noFill/>
          <a:ln/>
        </p:spPr>
        <p:txBody>
          <a:bodyPr wrap="square" lIns="0" tIns="0" rIns="0" bIns="0" rtlCol="0" anchor="t"/>
          <a:lstStyle/>
          <a:p>
            <a:pPr indent="0" marL="0">
              <a:buNone/>
            </a:pPr>
            <a:r>
              <a:rPr lang="en-US" sz="1200" b="1" dirty="0">
                <a:solidFill>
                  <a:schemeClr val="tx1"/>
                </a:solidFill>
              </a:rPr>
              <a:t>What it means for us: </a:t>
            </a:r>
            <a:pPr indent="0" marL="0">
              <a:buNone/>
            </a:pPr>
            <a:r>
              <a:rPr lang="en-US" sz="1200" dirty="0">
                <a:solidFill>
                  <a:schemeClr val="tx1"/>
                </a:solidFill>
              </a:rPr>
              <a:t>bought in 2018 on a five-year loan; fits our City mandate</a:t>
            </a:r>
            <a:endParaRPr lang="en-US" sz="1200" dirty="0"/>
          </a:p>
        </p:txBody>
      </p:sp>
      <p:sp>
        <p:nvSpPr>
          <p:cNvPr id="29" name="Text 27"/>
          <p:cNvSpPr txBox="1"/>
          <p:nvPr/>
        </p:nvSpPr>
        <p:spPr>
          <a:xfrm>
            <a:off x="4727448" y="3429000"/>
            <a:ext cx="3758184" cy="402336"/>
          </a:xfrm>
          <a:prstGeom prst="rect">
            <a:avLst/>
          </a:prstGeom>
          <a:noFill/>
          <a:ln/>
        </p:spPr>
        <p:txBody>
          <a:bodyPr wrap="square" lIns="0" tIns="0" rIns="0" bIns="0" rtlCol="0" anchor="t"/>
          <a:lstStyle/>
          <a:p>
            <a:pPr indent="0" marL="0">
              <a:buNone/>
            </a:pPr>
            <a:r>
              <a:rPr lang="en-US" sz="1200" b="1" dirty="0">
                <a:solidFill>
                  <a:schemeClr val="tx1"/>
                </a:solidFill>
              </a:rPr>
              <a:t>What to do next: </a:t>
            </a:r>
            <a:pPr indent="0" marL="0">
              <a:buNone/>
            </a:pPr>
            <a:r>
              <a:rPr lang="en-US" sz="1200" dirty="0">
                <a:solidFill>
                  <a:schemeClr val="tx1"/>
                </a:solidFill>
              </a:rPr>
              <a:t>confirm at Companies House and contact the administrator</a:t>
            </a:r>
            <a:endParaRPr lang="en-US" sz="1200" dirty="0"/>
          </a:p>
        </p:txBody>
      </p:sp>
      <p:sp>
        <p:nvSpPr>
          <p:cNvPr id="30" name="Approve button"/>
          <p:cNvSpPr/>
          <p:nvPr/>
        </p:nvSpPr>
        <p:spPr>
          <a:xfrm>
            <a:off x="4727448" y="3959352"/>
            <a:ext cx="1005840" cy="256032"/>
          </a:xfrm>
          <a:prstGeom prst="roundRect">
            <a:avLst>
              <a:gd name="adj" fmla="val 17857"/>
            </a:avLst>
          </a:prstGeom>
          <a:solidFill>
            <a:schemeClr val="tx2"/>
          </a:solidFill>
          <a:ln w="12700">
            <a:solidFill>
              <a:schemeClr val="tx2"/>
            </a:solidFill>
            <a:prstDash val="solid"/>
          </a:ln>
        </p:spPr>
      </p:sp>
      <p:sp>
        <p:nvSpPr>
          <p:cNvPr id="31" name="Text 29"/>
          <p:cNvSpPr txBox="1"/>
          <p:nvPr/>
        </p:nvSpPr>
        <p:spPr>
          <a:xfrm>
            <a:off x="4727448" y="3959352"/>
            <a:ext cx="1005840" cy="256032"/>
          </a:xfrm>
          <a:prstGeom prst="rect">
            <a:avLst/>
          </a:prstGeom>
          <a:noFill/>
          <a:ln/>
        </p:spPr>
        <p:txBody>
          <a:bodyPr wrap="square" lIns="0" tIns="0" rIns="0" bIns="0" rtlCol="0" anchor="ctr"/>
          <a:lstStyle/>
          <a:p>
            <a:pPr algn="ctr" indent="0" marL="0">
              <a:buNone/>
            </a:pPr>
            <a:r>
              <a:rPr lang="en-US" sz="1200" b="1" dirty="0">
                <a:solidFill>
                  <a:schemeClr val="bg1"/>
                </a:solidFill>
              </a:rPr>
              <a:t>Approve</a:t>
            </a:r>
            <a:endParaRPr lang="en-US" sz="1200" dirty="0"/>
          </a:p>
        </p:txBody>
      </p:sp>
      <p:sp>
        <p:nvSpPr>
          <p:cNvPr id="32" name="Reject button"/>
          <p:cNvSpPr/>
          <p:nvPr/>
        </p:nvSpPr>
        <p:spPr>
          <a:xfrm>
            <a:off x="5870448" y="3959352"/>
            <a:ext cx="1005840" cy="256032"/>
          </a:xfrm>
          <a:prstGeom prst="roundRect">
            <a:avLst>
              <a:gd name="adj" fmla="val 17857"/>
            </a:avLst>
          </a:prstGeom>
          <a:solidFill>
            <a:schemeClr val="bg1"/>
          </a:solidFill>
          <a:ln w="12700">
            <a:solidFill>
              <a:schemeClr val="accent3"/>
            </a:solidFill>
            <a:prstDash val="solid"/>
          </a:ln>
        </p:spPr>
      </p:sp>
      <p:sp>
        <p:nvSpPr>
          <p:cNvPr id="33" name="Text 31"/>
          <p:cNvSpPr txBox="1"/>
          <p:nvPr/>
        </p:nvSpPr>
        <p:spPr>
          <a:xfrm>
            <a:off x="5870448" y="3959352"/>
            <a:ext cx="1005840" cy="256032"/>
          </a:xfrm>
          <a:prstGeom prst="rect">
            <a:avLst/>
          </a:prstGeom>
          <a:noFill/>
          <a:ln/>
        </p:spPr>
        <p:txBody>
          <a:bodyPr wrap="square" lIns="0" tIns="0" rIns="0" bIns="0" rtlCol="0" anchor="ctr"/>
          <a:lstStyle/>
          <a:p>
            <a:pPr algn="ctr" indent="0" marL="0">
              <a:buNone/>
            </a:pPr>
            <a:r>
              <a:rPr lang="en-US" sz="1200" dirty="0">
                <a:solidFill>
                  <a:schemeClr val="tx1"/>
                </a:solidFill>
              </a:rPr>
              <a:t>Reject</a:t>
            </a:r>
            <a:endParaRPr lang="en-US" sz="1200" dirty="0"/>
          </a:p>
        </p:txBody>
      </p:sp>
      <p:sp>
        <p:nvSpPr>
          <p:cNvPr id="34" name="Footnote"/>
          <p:cNvSpPr txBox="1"/>
          <p:nvPr/>
        </p:nvSpPr>
        <p:spPr>
          <a:xfrm>
            <a:off x="457200" y="4434840"/>
            <a:ext cx="8229600" cy="292608"/>
          </a:xfrm>
          <a:prstGeom prst="rect">
            <a:avLst/>
          </a:prstGeom>
          <a:noFill/>
          <a:ln/>
        </p:spPr>
        <p:txBody>
          <a:bodyPr wrap="square" lIns="0" tIns="0" rIns="0" bIns="0" rtlCol="0" anchor="t"/>
          <a:lstStyle/>
          <a:p>
            <a:pPr indent="0" marL="0">
              <a:buNone/>
            </a:pPr>
            <a:r>
              <a:rPr lang="en-US" sz="1000" dirty="0">
                <a:solidFill>
                  <a:schemeClr val="accent6"/>
                </a:solidFill>
              </a:rPr>
              <a:t>Off-market share: 69% of City deals (H1 2019, Bisnow) and 76% of West End volume (July 2022, Savills). The example is built on a test notice and an illustrative mandate.</a:t>
            </a:r>
            <a:endParaRPr lang="en-US" sz="10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l"/>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lIns="0" tIns="0" rIns="0" bIns="0" rtlCol="0" anchor="ctr"/>
          <a:lstStyle/>
          <a:p>
            <a:pPr algn="l" indent="0" marL="0">
              <a:buNone/>
            </a:pPr>
            <a:r>
              <a:rPr lang="en-US" sz="1200" b="1" spc="100" kern="0" dirty="0">
                <a:solidFill>
                  <a:schemeClr val="accent1"/>
                </a:solidFill>
                <a:latin typeface="Calibri" pitchFamily="34" charset="0"/>
                <a:ea typeface="Calibri" pitchFamily="34" charset="-122"/>
                <a:cs typeface="Calibri" pitchFamily="34" charset="-120"/>
              </a:rPr>
              <a:t>BUILT TO BE TRUSTED</a:t>
            </a: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lIns="0" tIns="0" rIns="0" bIns="0" rtlCol="0" anchor="t"/>
          <a:lstStyle/>
          <a:p>
            <a:pPr algn="l" indent="0" marL="0">
              <a:buNone/>
            </a:pPr>
            <a:r>
              <a:rPr lang="en-US" sz="2800" b="1" dirty="0">
                <a:solidFill>
                  <a:schemeClr val="tx2"/>
                </a:solidFill>
                <a:latin typeface="Cambria" pitchFamily="34" charset="0"/>
                <a:ea typeface="Cambria" pitchFamily="34" charset="-122"/>
                <a:cs typeface="Cambria" pitchFamily="34" charset="-120"/>
              </a:rPr>
              <a:t>Why not just use ChatGPT?</a:t>
            </a:r>
            <a:endParaRPr lang="en-US" sz="2800" dirty="0"/>
          </a:p>
        </p:txBody>
      </p:sp>
      <p:sp>
        <p:nvSpPr>
          <p:cNvPr id="4" name="Chatbot header"/>
          <p:cNvSpPr/>
          <p:nvPr/>
        </p:nvSpPr>
        <p:spPr>
          <a:xfrm>
            <a:off x="2651760" y="1325880"/>
            <a:ext cx="2468880" cy="365760"/>
          </a:xfrm>
          <a:prstGeom prst="rect">
            <a:avLst/>
          </a:prstGeom>
          <a:solidFill>
            <a:schemeClr val="bg2"/>
          </a:solidFill>
          <a:ln w="12700">
            <a:solidFill>
              <a:schemeClr val="bg2"/>
            </a:solidFill>
            <a:prstDash val="solid"/>
          </a:ln>
        </p:spPr>
      </p:sp>
      <p:sp>
        <p:nvSpPr>
          <p:cNvPr id="5" name="Text 3"/>
          <p:cNvSpPr txBox="1"/>
          <p:nvPr/>
        </p:nvSpPr>
        <p:spPr>
          <a:xfrm>
            <a:off x="2788920" y="1325880"/>
            <a:ext cx="2194560" cy="365760"/>
          </a:xfrm>
          <a:prstGeom prst="rect">
            <a:avLst/>
          </a:prstGeom>
          <a:noFill/>
          <a:ln/>
        </p:spPr>
        <p:txBody>
          <a:bodyPr wrap="square" lIns="0" tIns="0" rIns="0" bIns="0" rtlCol="0" anchor="ctr"/>
          <a:lstStyle/>
          <a:p>
            <a:pPr indent="0" marL="0">
              <a:buNone/>
            </a:pPr>
            <a:r>
              <a:rPr lang="en-US" sz="1400" b="1" dirty="0">
                <a:solidFill>
                  <a:schemeClr val="accent6"/>
                </a:solidFill>
              </a:rPr>
              <a:t>ChatGPT</a:t>
            </a:r>
            <a:endParaRPr lang="en-US" sz="1400" dirty="0"/>
          </a:p>
        </p:txBody>
      </p:sp>
      <p:sp>
        <p:nvSpPr>
          <p:cNvPr id="6" name="Monitor header"/>
          <p:cNvSpPr/>
          <p:nvPr/>
        </p:nvSpPr>
        <p:spPr>
          <a:xfrm>
            <a:off x="5212080" y="1325880"/>
            <a:ext cx="3474720" cy="365760"/>
          </a:xfrm>
          <a:prstGeom prst="rect">
            <a:avLst/>
          </a:prstGeom>
          <a:solidFill>
            <a:schemeClr val="tx2"/>
          </a:solidFill>
          <a:ln w="12700">
            <a:solidFill>
              <a:schemeClr val="tx2"/>
            </a:solidFill>
            <a:prstDash val="solid"/>
          </a:ln>
        </p:spPr>
      </p:sp>
      <p:sp>
        <p:nvSpPr>
          <p:cNvPr id="7" name="Text 5"/>
          <p:cNvSpPr txBox="1"/>
          <p:nvPr/>
        </p:nvSpPr>
        <p:spPr>
          <a:xfrm>
            <a:off x="5349240" y="1325880"/>
            <a:ext cx="3200400" cy="365760"/>
          </a:xfrm>
          <a:prstGeom prst="rect">
            <a:avLst/>
          </a:prstGeom>
          <a:noFill/>
          <a:ln/>
        </p:spPr>
        <p:txBody>
          <a:bodyPr wrap="square" lIns="0" tIns="0" rIns="0" bIns="0" rtlCol="0" anchor="ctr"/>
          <a:lstStyle/>
          <a:p>
            <a:pPr indent="0" marL="0">
              <a:buNone/>
            </a:pPr>
            <a:r>
              <a:rPr lang="en-US" sz="1400" b="1" dirty="0">
                <a:solidFill>
                  <a:schemeClr val="bg1"/>
                </a:solidFill>
              </a:rPr>
              <a:t>London Office Monitor</a:t>
            </a:r>
            <a:endParaRPr lang="en-US" sz="1400" dirty="0"/>
          </a:p>
        </p:txBody>
      </p:sp>
      <p:sp>
        <p:nvSpPr>
          <p:cNvPr id="8" name="Text 6"/>
          <p:cNvSpPr txBox="1"/>
          <p:nvPr/>
        </p:nvSpPr>
        <p:spPr>
          <a:xfrm>
            <a:off x="457200" y="1764792"/>
            <a:ext cx="2103120" cy="402336"/>
          </a:xfrm>
          <a:prstGeom prst="rect">
            <a:avLst/>
          </a:prstGeom>
          <a:noFill/>
          <a:ln/>
        </p:spPr>
        <p:txBody>
          <a:bodyPr wrap="square" lIns="0" tIns="0" rIns="0" bIns="0" rtlCol="0" anchor="ctr"/>
          <a:lstStyle/>
          <a:p>
            <a:pPr indent="0" marL="0">
              <a:buNone/>
            </a:pPr>
            <a:r>
              <a:rPr lang="en-US" sz="1400" b="1" dirty="0">
                <a:solidFill>
                  <a:schemeClr val="tx2"/>
                </a:solidFill>
              </a:rPr>
              <a:t>Market figures</a:t>
            </a:r>
            <a:endParaRPr lang="en-US" sz="1400" dirty="0"/>
          </a:p>
        </p:txBody>
      </p:sp>
      <p:sp>
        <p:nvSpPr>
          <p:cNvPr id="9" name="Market figures chatbot cell"/>
          <p:cNvSpPr/>
          <p:nvPr/>
        </p:nvSpPr>
        <p:spPr>
          <a:xfrm>
            <a:off x="2651760" y="1764792"/>
            <a:ext cx="2468880" cy="402336"/>
          </a:xfrm>
          <a:prstGeom prst="rect">
            <a:avLst/>
          </a:prstGeom>
          <a:solidFill>
            <a:schemeClr val="bg2"/>
          </a:solidFill>
          <a:ln w="12700">
            <a:solidFill>
              <a:schemeClr val="bg2"/>
            </a:solidFill>
            <a:prstDash val="solid"/>
          </a:ln>
        </p:spPr>
      </p:sp>
      <p:pic>
        <p:nvPicPr>
          <p:cNvPr id="10" name="Image 0" descr="No">    </p:cNvPr>
          <p:cNvPicPr>
            <a:picLocks noChangeAspect="1"/>
          </p:cNvPicPr>
          <p:nvPr/>
        </p:nvPicPr>
        <p:blipFill>
          <a:blip r:embed="rId1"/>
          <a:stretch>
            <a:fillRect/>
          </a:stretch>
        </p:blipFill>
        <p:spPr>
          <a:xfrm>
            <a:off x="2788920" y="1883664"/>
            <a:ext cx="164592" cy="164592"/>
          </a:xfrm>
          <a:prstGeom prst="rect">
            <a:avLst/>
          </a:prstGeom>
        </p:spPr>
      </p:pic>
      <p:sp>
        <p:nvSpPr>
          <p:cNvPr id="11" name="Text 8"/>
          <p:cNvSpPr txBox="1"/>
          <p:nvPr/>
        </p:nvSpPr>
        <p:spPr>
          <a:xfrm>
            <a:off x="3063240" y="1764792"/>
            <a:ext cx="1965960" cy="402336"/>
          </a:xfrm>
          <a:prstGeom prst="rect">
            <a:avLst/>
          </a:prstGeom>
          <a:noFill/>
          <a:ln/>
        </p:spPr>
        <p:txBody>
          <a:bodyPr wrap="square" lIns="0" tIns="0" rIns="0" bIns="0" rtlCol="0" anchor="ctr"/>
          <a:lstStyle/>
          <a:p>
            <a:pPr indent="0" marL="0">
              <a:buNone/>
            </a:pPr>
            <a:r>
              <a:rPr lang="en-US" sz="1400" dirty="0">
                <a:solidFill>
                  <a:schemeClr val="accent6"/>
                </a:solidFill>
              </a:rPr>
              <a:t>What it finds or recalls</a:t>
            </a:r>
            <a:endParaRPr lang="en-US" sz="1400" dirty="0"/>
          </a:p>
        </p:txBody>
      </p:sp>
      <p:sp>
        <p:nvSpPr>
          <p:cNvPr id="12" name="Market figures monitor cell"/>
          <p:cNvSpPr/>
          <p:nvPr/>
        </p:nvSpPr>
        <p:spPr>
          <a:xfrm>
            <a:off x="5212080" y="1764792"/>
            <a:ext cx="3474720" cy="402336"/>
          </a:xfrm>
          <a:prstGeom prst="rect">
            <a:avLst/>
          </a:prstGeom>
          <a:solidFill>
            <a:schemeClr val="accent2">
              <a:alpha val="12000"/>
            </a:schemeClr>
          </a:solidFill>
          <a:ln w="12700">
            <a:solidFill>
              <a:schemeClr val="accent2">
                <a:alpha val="12000"/>
              </a:schemeClr>
            </a:solidFill>
            <a:prstDash val="solid"/>
          </a:ln>
        </p:spPr>
      </p:sp>
      <p:pic>
        <p:nvPicPr>
          <p:cNvPr id="13" name="Image 1" descr="Yes">    </p:cNvPr>
          <p:cNvPicPr>
            <a:picLocks noChangeAspect="1"/>
          </p:cNvPicPr>
          <p:nvPr/>
        </p:nvPicPr>
        <p:blipFill>
          <a:blip r:embed="rId2"/>
          <a:stretch>
            <a:fillRect/>
          </a:stretch>
        </p:blipFill>
        <p:spPr>
          <a:xfrm>
            <a:off x="5349240" y="1883664"/>
            <a:ext cx="164592" cy="164592"/>
          </a:xfrm>
          <a:prstGeom prst="rect">
            <a:avLst/>
          </a:prstGeom>
        </p:spPr>
      </p:pic>
      <p:sp>
        <p:nvSpPr>
          <p:cNvPr id="14" name="Text 10"/>
          <p:cNvSpPr txBox="1"/>
          <p:nvPr/>
        </p:nvSpPr>
        <p:spPr>
          <a:xfrm>
            <a:off x="5623560" y="1764792"/>
            <a:ext cx="2971800" cy="402336"/>
          </a:xfrm>
          <a:prstGeom prst="rect">
            <a:avLst/>
          </a:prstGeom>
          <a:noFill/>
          <a:ln/>
        </p:spPr>
        <p:txBody>
          <a:bodyPr wrap="square" lIns="0" tIns="0" rIns="0" bIns="0" rtlCol="0" anchor="ctr"/>
          <a:lstStyle/>
          <a:p>
            <a:pPr indent="0" marL="0">
              <a:buNone/>
            </a:pPr>
            <a:r>
              <a:rPr lang="en-US" sz="1400" dirty="0">
                <a:solidFill>
                  <a:schemeClr val="tx1"/>
                </a:solidFill>
              </a:rPr>
              <a:t>Checked broker figures, with sources</a:t>
            </a:r>
            <a:endParaRPr lang="en-US" sz="1400" dirty="0"/>
          </a:p>
        </p:txBody>
      </p:sp>
      <p:sp>
        <p:nvSpPr>
          <p:cNvPr id="15" name="Text 11"/>
          <p:cNvSpPr txBox="1"/>
          <p:nvPr/>
        </p:nvSpPr>
        <p:spPr>
          <a:xfrm>
            <a:off x="457200" y="2221992"/>
            <a:ext cx="2103120" cy="402336"/>
          </a:xfrm>
          <a:prstGeom prst="rect">
            <a:avLst/>
          </a:prstGeom>
          <a:noFill/>
          <a:ln/>
        </p:spPr>
        <p:txBody>
          <a:bodyPr wrap="square" lIns="0" tIns="0" rIns="0" bIns="0" rtlCol="0" anchor="ctr"/>
          <a:lstStyle/>
          <a:p>
            <a:pPr indent="0" marL="0">
              <a:buNone/>
            </a:pPr>
            <a:r>
              <a:rPr lang="en-US" sz="1400" b="1" dirty="0">
                <a:solidFill>
                  <a:schemeClr val="tx2"/>
                </a:solidFill>
              </a:rPr>
              <a:t>Numbers checked first</a:t>
            </a:r>
            <a:endParaRPr lang="en-US" sz="1400" dirty="0"/>
          </a:p>
        </p:txBody>
      </p:sp>
      <p:sp>
        <p:nvSpPr>
          <p:cNvPr id="16" name="Numbers checked first chatbot cell"/>
          <p:cNvSpPr/>
          <p:nvPr/>
        </p:nvSpPr>
        <p:spPr>
          <a:xfrm>
            <a:off x="2651760" y="2221992"/>
            <a:ext cx="2468880" cy="402336"/>
          </a:xfrm>
          <a:prstGeom prst="rect">
            <a:avLst/>
          </a:prstGeom>
          <a:solidFill>
            <a:schemeClr val="bg2"/>
          </a:solidFill>
          <a:ln w="12700">
            <a:solidFill>
              <a:schemeClr val="bg2"/>
            </a:solidFill>
            <a:prstDash val="solid"/>
          </a:ln>
        </p:spPr>
      </p:sp>
      <p:pic>
        <p:nvPicPr>
          <p:cNvPr id="17" name="Image 2" descr="No">    </p:cNvPr>
          <p:cNvPicPr>
            <a:picLocks noChangeAspect="1"/>
          </p:cNvPicPr>
          <p:nvPr/>
        </p:nvPicPr>
        <p:blipFill>
          <a:blip r:embed="rId3"/>
          <a:stretch>
            <a:fillRect/>
          </a:stretch>
        </p:blipFill>
        <p:spPr>
          <a:xfrm>
            <a:off x="2788920" y="2340864"/>
            <a:ext cx="164592" cy="164592"/>
          </a:xfrm>
          <a:prstGeom prst="rect">
            <a:avLst/>
          </a:prstGeom>
        </p:spPr>
      </p:pic>
      <p:sp>
        <p:nvSpPr>
          <p:cNvPr id="18" name="Text 13"/>
          <p:cNvSpPr txBox="1"/>
          <p:nvPr/>
        </p:nvSpPr>
        <p:spPr>
          <a:xfrm>
            <a:off x="3063240" y="2221992"/>
            <a:ext cx="1965960" cy="402336"/>
          </a:xfrm>
          <a:prstGeom prst="rect">
            <a:avLst/>
          </a:prstGeom>
          <a:noFill/>
          <a:ln/>
        </p:spPr>
        <p:txBody>
          <a:bodyPr wrap="square" lIns="0" tIns="0" rIns="0" bIns="0" rtlCol="0" anchor="ctr"/>
          <a:lstStyle/>
          <a:p>
            <a:pPr indent="0" marL="0">
              <a:buNone/>
            </a:pPr>
            <a:r>
              <a:rPr lang="en-US" sz="1400" dirty="0">
                <a:solidFill>
                  <a:schemeClr val="accent6"/>
                </a:solidFill>
              </a:rPr>
              <a:t>Not guaranteed</a:t>
            </a:r>
            <a:endParaRPr lang="en-US" sz="1400" dirty="0"/>
          </a:p>
        </p:txBody>
      </p:sp>
      <p:sp>
        <p:nvSpPr>
          <p:cNvPr id="19" name="Numbers checked first monitor cell"/>
          <p:cNvSpPr/>
          <p:nvPr/>
        </p:nvSpPr>
        <p:spPr>
          <a:xfrm>
            <a:off x="5212080" y="2221992"/>
            <a:ext cx="3474720" cy="402336"/>
          </a:xfrm>
          <a:prstGeom prst="rect">
            <a:avLst/>
          </a:prstGeom>
          <a:solidFill>
            <a:schemeClr val="accent2">
              <a:alpha val="12000"/>
            </a:schemeClr>
          </a:solidFill>
          <a:ln w="12700">
            <a:solidFill>
              <a:schemeClr val="accent2">
                <a:alpha val="12000"/>
              </a:schemeClr>
            </a:solidFill>
            <a:prstDash val="solid"/>
          </a:ln>
        </p:spPr>
      </p:sp>
      <p:pic>
        <p:nvPicPr>
          <p:cNvPr id="20" name="Image 3" descr="Yes">    </p:cNvPr>
          <p:cNvPicPr>
            <a:picLocks noChangeAspect="1"/>
          </p:cNvPicPr>
          <p:nvPr/>
        </p:nvPicPr>
        <p:blipFill>
          <a:blip r:embed="rId4"/>
          <a:stretch>
            <a:fillRect/>
          </a:stretch>
        </p:blipFill>
        <p:spPr>
          <a:xfrm>
            <a:off x="5349240" y="2340864"/>
            <a:ext cx="164592" cy="164592"/>
          </a:xfrm>
          <a:prstGeom prst="rect">
            <a:avLst/>
          </a:prstGeom>
        </p:spPr>
      </p:pic>
      <p:sp>
        <p:nvSpPr>
          <p:cNvPr id="21" name="Text 15"/>
          <p:cNvSpPr txBox="1"/>
          <p:nvPr/>
        </p:nvSpPr>
        <p:spPr>
          <a:xfrm>
            <a:off x="5623560" y="2221992"/>
            <a:ext cx="2971800" cy="402336"/>
          </a:xfrm>
          <a:prstGeom prst="rect">
            <a:avLst/>
          </a:prstGeom>
          <a:noFill/>
          <a:ln/>
        </p:spPr>
        <p:txBody>
          <a:bodyPr wrap="square" lIns="0" tIns="0" rIns="0" bIns="0" rtlCol="0" anchor="ctr"/>
          <a:lstStyle/>
          <a:p>
            <a:pPr indent="0" marL="0">
              <a:buNone/>
            </a:pPr>
            <a:r>
              <a:rPr lang="en-US" sz="1400" dirty="0">
                <a:solidFill>
                  <a:schemeClr val="tx1"/>
                </a:solidFill>
              </a:rPr>
              <a:t>Always, against our stored data</a:t>
            </a:r>
            <a:endParaRPr lang="en-US" sz="1400" dirty="0"/>
          </a:p>
        </p:txBody>
      </p:sp>
      <p:sp>
        <p:nvSpPr>
          <p:cNvPr id="22" name="Text 16"/>
          <p:cNvSpPr txBox="1"/>
          <p:nvPr/>
        </p:nvSpPr>
        <p:spPr>
          <a:xfrm>
            <a:off x="457200" y="2679192"/>
            <a:ext cx="2103120" cy="402336"/>
          </a:xfrm>
          <a:prstGeom prst="rect">
            <a:avLst/>
          </a:prstGeom>
          <a:noFill/>
          <a:ln/>
        </p:spPr>
        <p:txBody>
          <a:bodyPr wrap="square" lIns="0" tIns="0" rIns="0" bIns="0" rtlCol="0" anchor="ctr"/>
          <a:lstStyle/>
          <a:p>
            <a:pPr indent="0" marL="0">
              <a:buNone/>
            </a:pPr>
            <a:r>
              <a:rPr lang="en-US" sz="1400" b="1" dirty="0">
                <a:solidFill>
                  <a:schemeClr val="tx2"/>
                </a:solidFill>
              </a:rPr>
              <a:t>Knows Nan Fung</a:t>
            </a:r>
            <a:endParaRPr lang="en-US" sz="1400" dirty="0"/>
          </a:p>
        </p:txBody>
      </p:sp>
      <p:sp>
        <p:nvSpPr>
          <p:cNvPr id="23" name="Knows Nan Fung chatbot cell"/>
          <p:cNvSpPr/>
          <p:nvPr/>
        </p:nvSpPr>
        <p:spPr>
          <a:xfrm>
            <a:off x="2651760" y="2679192"/>
            <a:ext cx="2468880" cy="402336"/>
          </a:xfrm>
          <a:prstGeom prst="rect">
            <a:avLst/>
          </a:prstGeom>
          <a:solidFill>
            <a:schemeClr val="bg2"/>
          </a:solidFill>
          <a:ln w="12700">
            <a:solidFill>
              <a:schemeClr val="bg2"/>
            </a:solidFill>
            <a:prstDash val="solid"/>
          </a:ln>
        </p:spPr>
      </p:sp>
      <p:pic>
        <p:nvPicPr>
          <p:cNvPr id="24" name="Image 4" descr="No">    </p:cNvPr>
          <p:cNvPicPr>
            <a:picLocks noChangeAspect="1"/>
          </p:cNvPicPr>
          <p:nvPr/>
        </p:nvPicPr>
        <p:blipFill>
          <a:blip r:embed="rId5"/>
          <a:stretch>
            <a:fillRect/>
          </a:stretch>
        </p:blipFill>
        <p:spPr>
          <a:xfrm>
            <a:off x="2788920" y="2798064"/>
            <a:ext cx="164592" cy="164592"/>
          </a:xfrm>
          <a:prstGeom prst="rect">
            <a:avLst/>
          </a:prstGeom>
        </p:spPr>
      </p:pic>
      <p:sp>
        <p:nvSpPr>
          <p:cNvPr id="25" name="Text 18"/>
          <p:cNvSpPr txBox="1"/>
          <p:nvPr/>
        </p:nvSpPr>
        <p:spPr>
          <a:xfrm>
            <a:off x="3063240" y="2679192"/>
            <a:ext cx="1965960" cy="402336"/>
          </a:xfrm>
          <a:prstGeom prst="rect">
            <a:avLst/>
          </a:prstGeom>
          <a:noFill/>
          <a:ln/>
        </p:spPr>
        <p:txBody>
          <a:bodyPr wrap="square" lIns="0" tIns="0" rIns="0" bIns="0" rtlCol="0" anchor="ctr"/>
          <a:lstStyle/>
          <a:p>
            <a:pPr indent="0" marL="0">
              <a:buNone/>
            </a:pPr>
            <a:r>
              <a:rPr lang="en-US" sz="1400" dirty="0">
                <a:solidFill>
                  <a:schemeClr val="accent6"/>
                </a:solidFill>
              </a:rPr>
              <a:t>Only what you give it</a:t>
            </a:r>
            <a:endParaRPr lang="en-US" sz="1400" dirty="0"/>
          </a:p>
        </p:txBody>
      </p:sp>
      <p:sp>
        <p:nvSpPr>
          <p:cNvPr id="26" name="Knows Nan Fung monitor cell"/>
          <p:cNvSpPr/>
          <p:nvPr/>
        </p:nvSpPr>
        <p:spPr>
          <a:xfrm>
            <a:off x="5212080" y="2679192"/>
            <a:ext cx="3474720" cy="402336"/>
          </a:xfrm>
          <a:prstGeom prst="rect">
            <a:avLst/>
          </a:prstGeom>
          <a:solidFill>
            <a:schemeClr val="accent2">
              <a:alpha val="12000"/>
            </a:schemeClr>
          </a:solidFill>
          <a:ln w="12700">
            <a:solidFill>
              <a:schemeClr val="accent2">
                <a:alpha val="12000"/>
              </a:schemeClr>
            </a:solidFill>
            <a:prstDash val="solid"/>
          </a:ln>
        </p:spPr>
      </p:sp>
      <p:pic>
        <p:nvPicPr>
          <p:cNvPr id="27" name="Image 5" descr="Yes">    </p:cNvPr>
          <p:cNvPicPr>
            <a:picLocks noChangeAspect="1"/>
          </p:cNvPicPr>
          <p:nvPr/>
        </p:nvPicPr>
        <p:blipFill>
          <a:blip r:embed="rId6"/>
          <a:stretch>
            <a:fillRect/>
          </a:stretch>
        </p:blipFill>
        <p:spPr>
          <a:xfrm>
            <a:off x="5349240" y="2798064"/>
            <a:ext cx="164592" cy="164592"/>
          </a:xfrm>
          <a:prstGeom prst="rect">
            <a:avLst/>
          </a:prstGeom>
        </p:spPr>
      </p:pic>
      <p:sp>
        <p:nvSpPr>
          <p:cNvPr id="28" name="Text 20"/>
          <p:cNvSpPr txBox="1"/>
          <p:nvPr/>
        </p:nvSpPr>
        <p:spPr>
          <a:xfrm>
            <a:off x="5623560" y="2679192"/>
            <a:ext cx="2971800" cy="402336"/>
          </a:xfrm>
          <a:prstGeom prst="rect">
            <a:avLst/>
          </a:prstGeom>
          <a:noFill/>
          <a:ln/>
        </p:spPr>
        <p:txBody>
          <a:bodyPr wrap="square" lIns="0" tIns="0" rIns="0" bIns="0" rtlCol="0" anchor="ctr"/>
          <a:lstStyle/>
          <a:p>
            <a:pPr indent="0" marL="0">
              <a:buNone/>
            </a:pPr>
            <a:r>
              <a:rPr lang="en-US" sz="1400" dirty="0">
                <a:solidFill>
                  <a:schemeClr val="tx1"/>
                </a:solidFill>
              </a:rPr>
              <a:t>Our buildings, mandate and decisions</a:t>
            </a:r>
            <a:endParaRPr lang="en-US" sz="1400" dirty="0"/>
          </a:p>
        </p:txBody>
      </p:sp>
      <p:sp>
        <p:nvSpPr>
          <p:cNvPr id="29" name="Text 21"/>
          <p:cNvSpPr txBox="1"/>
          <p:nvPr/>
        </p:nvSpPr>
        <p:spPr>
          <a:xfrm>
            <a:off x="457200" y="3136392"/>
            <a:ext cx="2103120" cy="402336"/>
          </a:xfrm>
          <a:prstGeom prst="rect">
            <a:avLst/>
          </a:prstGeom>
          <a:noFill/>
          <a:ln/>
        </p:spPr>
        <p:txBody>
          <a:bodyPr wrap="square" lIns="0" tIns="0" rIns="0" bIns="0" rtlCol="0" anchor="ctr"/>
          <a:lstStyle/>
          <a:p>
            <a:pPr indent="0" marL="0">
              <a:buNone/>
            </a:pPr>
            <a:r>
              <a:rPr lang="en-US" sz="1400" b="1" dirty="0">
                <a:solidFill>
                  <a:schemeClr val="tx2"/>
                </a:solidFill>
              </a:rPr>
              <a:t>Team sign-off</a:t>
            </a:r>
            <a:endParaRPr lang="en-US" sz="1400" dirty="0"/>
          </a:p>
        </p:txBody>
      </p:sp>
      <p:sp>
        <p:nvSpPr>
          <p:cNvPr id="30" name="Team sign-off chatbot cell"/>
          <p:cNvSpPr/>
          <p:nvPr/>
        </p:nvSpPr>
        <p:spPr>
          <a:xfrm>
            <a:off x="2651760" y="3136392"/>
            <a:ext cx="2468880" cy="402336"/>
          </a:xfrm>
          <a:prstGeom prst="rect">
            <a:avLst/>
          </a:prstGeom>
          <a:solidFill>
            <a:schemeClr val="bg2"/>
          </a:solidFill>
          <a:ln w="12700">
            <a:solidFill>
              <a:schemeClr val="bg2"/>
            </a:solidFill>
            <a:prstDash val="solid"/>
          </a:ln>
        </p:spPr>
      </p:sp>
      <p:pic>
        <p:nvPicPr>
          <p:cNvPr id="31" name="Image 6" descr="No">    </p:cNvPr>
          <p:cNvPicPr>
            <a:picLocks noChangeAspect="1"/>
          </p:cNvPicPr>
          <p:nvPr/>
        </p:nvPicPr>
        <p:blipFill>
          <a:blip r:embed="rId7"/>
          <a:stretch>
            <a:fillRect/>
          </a:stretch>
        </p:blipFill>
        <p:spPr>
          <a:xfrm>
            <a:off x="2788920" y="3255264"/>
            <a:ext cx="164592" cy="164592"/>
          </a:xfrm>
          <a:prstGeom prst="rect">
            <a:avLst/>
          </a:prstGeom>
        </p:spPr>
      </p:pic>
      <p:sp>
        <p:nvSpPr>
          <p:cNvPr id="32" name="Text 23"/>
          <p:cNvSpPr txBox="1"/>
          <p:nvPr/>
        </p:nvSpPr>
        <p:spPr>
          <a:xfrm>
            <a:off x="3063240" y="3136392"/>
            <a:ext cx="1965960" cy="402336"/>
          </a:xfrm>
          <a:prstGeom prst="rect">
            <a:avLst/>
          </a:prstGeom>
          <a:noFill/>
          <a:ln/>
        </p:spPr>
        <p:txBody>
          <a:bodyPr wrap="square" lIns="0" tIns="0" rIns="0" bIns="0" rtlCol="0" anchor="ctr"/>
          <a:lstStyle/>
          <a:p>
            <a:pPr indent="0" marL="0">
              <a:buNone/>
            </a:pPr>
            <a:r>
              <a:rPr lang="en-US" sz="1400" dirty="0">
                <a:solidFill>
                  <a:schemeClr val="accent6"/>
                </a:solidFill>
              </a:rPr>
              <a:t>None</a:t>
            </a:r>
            <a:endParaRPr lang="en-US" sz="1400" dirty="0"/>
          </a:p>
        </p:txBody>
      </p:sp>
      <p:sp>
        <p:nvSpPr>
          <p:cNvPr id="33" name="Team sign-off monitor cell"/>
          <p:cNvSpPr/>
          <p:nvPr/>
        </p:nvSpPr>
        <p:spPr>
          <a:xfrm>
            <a:off x="5212080" y="3136392"/>
            <a:ext cx="3474720" cy="402336"/>
          </a:xfrm>
          <a:prstGeom prst="rect">
            <a:avLst/>
          </a:prstGeom>
          <a:solidFill>
            <a:schemeClr val="accent2">
              <a:alpha val="12000"/>
            </a:schemeClr>
          </a:solidFill>
          <a:ln w="12700">
            <a:solidFill>
              <a:schemeClr val="accent2">
                <a:alpha val="12000"/>
              </a:schemeClr>
            </a:solidFill>
            <a:prstDash val="solid"/>
          </a:ln>
        </p:spPr>
      </p:sp>
      <p:pic>
        <p:nvPicPr>
          <p:cNvPr id="34" name="Image 7" descr="Yes">    </p:cNvPr>
          <p:cNvPicPr>
            <a:picLocks noChangeAspect="1"/>
          </p:cNvPicPr>
          <p:nvPr/>
        </p:nvPicPr>
        <p:blipFill>
          <a:blip r:embed="rId8"/>
          <a:stretch>
            <a:fillRect/>
          </a:stretch>
        </p:blipFill>
        <p:spPr>
          <a:xfrm>
            <a:off x="5349240" y="3255264"/>
            <a:ext cx="164592" cy="164592"/>
          </a:xfrm>
          <a:prstGeom prst="rect">
            <a:avLst/>
          </a:prstGeom>
        </p:spPr>
      </p:pic>
      <p:sp>
        <p:nvSpPr>
          <p:cNvPr id="35" name="Text 25"/>
          <p:cNvSpPr txBox="1"/>
          <p:nvPr/>
        </p:nvSpPr>
        <p:spPr>
          <a:xfrm>
            <a:off x="5623560" y="3136392"/>
            <a:ext cx="2971800" cy="402336"/>
          </a:xfrm>
          <a:prstGeom prst="rect">
            <a:avLst/>
          </a:prstGeom>
          <a:noFill/>
          <a:ln/>
        </p:spPr>
        <p:txBody>
          <a:bodyPr wrap="square" lIns="0" tIns="0" rIns="0" bIns="0" rtlCol="0" anchor="ctr"/>
          <a:lstStyle/>
          <a:p>
            <a:pPr indent="0" marL="0">
              <a:buNone/>
            </a:pPr>
            <a:r>
              <a:rPr lang="en-US" sz="1400" dirty="0">
                <a:solidFill>
                  <a:schemeClr val="tx1"/>
                </a:solidFill>
              </a:rPr>
              <a:t>The analyst approves each lead</a:t>
            </a:r>
            <a:endParaRPr lang="en-US" sz="1400" dirty="0"/>
          </a:p>
        </p:txBody>
      </p:sp>
      <p:sp>
        <p:nvSpPr>
          <p:cNvPr id="36" name="Text 26"/>
          <p:cNvSpPr txBox="1"/>
          <p:nvPr/>
        </p:nvSpPr>
        <p:spPr>
          <a:xfrm>
            <a:off x="457200" y="3593592"/>
            <a:ext cx="2103120" cy="402336"/>
          </a:xfrm>
          <a:prstGeom prst="rect">
            <a:avLst/>
          </a:prstGeom>
          <a:noFill/>
          <a:ln/>
        </p:spPr>
        <p:txBody>
          <a:bodyPr wrap="square" lIns="0" tIns="0" rIns="0" bIns="0" rtlCol="0" anchor="ctr"/>
          <a:lstStyle/>
          <a:p>
            <a:pPr indent="0" marL="0">
              <a:buNone/>
            </a:pPr>
            <a:r>
              <a:rPr lang="en-US" sz="1400" b="1" dirty="0">
                <a:solidFill>
                  <a:schemeClr val="tx2"/>
                </a:solidFill>
              </a:rPr>
              <a:t>Team memory</a:t>
            </a:r>
            <a:endParaRPr lang="en-US" sz="1400" dirty="0"/>
          </a:p>
        </p:txBody>
      </p:sp>
      <p:sp>
        <p:nvSpPr>
          <p:cNvPr id="37" name="Team memory chatbot cell"/>
          <p:cNvSpPr/>
          <p:nvPr/>
        </p:nvSpPr>
        <p:spPr>
          <a:xfrm>
            <a:off x="2651760" y="3593592"/>
            <a:ext cx="2468880" cy="402336"/>
          </a:xfrm>
          <a:prstGeom prst="rect">
            <a:avLst/>
          </a:prstGeom>
          <a:solidFill>
            <a:schemeClr val="bg2"/>
          </a:solidFill>
          <a:ln w="12700">
            <a:solidFill>
              <a:schemeClr val="bg2"/>
            </a:solidFill>
            <a:prstDash val="solid"/>
          </a:ln>
        </p:spPr>
      </p:sp>
      <p:pic>
        <p:nvPicPr>
          <p:cNvPr id="38" name="Image 8" descr="No">    </p:cNvPr>
          <p:cNvPicPr>
            <a:picLocks noChangeAspect="1"/>
          </p:cNvPicPr>
          <p:nvPr/>
        </p:nvPicPr>
        <p:blipFill>
          <a:blip r:embed="rId9"/>
          <a:stretch>
            <a:fillRect/>
          </a:stretch>
        </p:blipFill>
        <p:spPr>
          <a:xfrm>
            <a:off x="2788920" y="3712464"/>
            <a:ext cx="164592" cy="164592"/>
          </a:xfrm>
          <a:prstGeom prst="rect">
            <a:avLst/>
          </a:prstGeom>
        </p:spPr>
      </p:pic>
      <p:sp>
        <p:nvSpPr>
          <p:cNvPr id="39" name="Text 28"/>
          <p:cNvSpPr txBox="1"/>
          <p:nvPr/>
        </p:nvSpPr>
        <p:spPr>
          <a:xfrm>
            <a:off x="3063240" y="3593592"/>
            <a:ext cx="1965960" cy="402336"/>
          </a:xfrm>
          <a:prstGeom prst="rect">
            <a:avLst/>
          </a:prstGeom>
          <a:noFill/>
          <a:ln/>
        </p:spPr>
        <p:txBody>
          <a:bodyPr wrap="square" lIns="0" tIns="0" rIns="0" bIns="0" rtlCol="0" anchor="ctr"/>
          <a:lstStyle/>
          <a:p>
            <a:pPr indent="0" marL="0">
              <a:buNone/>
            </a:pPr>
            <a:r>
              <a:rPr lang="en-US" sz="1400" dirty="0">
                <a:solidFill>
                  <a:schemeClr val="accent6"/>
                </a:solidFill>
              </a:rPr>
              <a:t>Personal memory only</a:t>
            </a:r>
            <a:endParaRPr lang="en-US" sz="1400" dirty="0"/>
          </a:p>
        </p:txBody>
      </p:sp>
      <p:sp>
        <p:nvSpPr>
          <p:cNvPr id="40" name="Team memory monitor cell"/>
          <p:cNvSpPr/>
          <p:nvPr/>
        </p:nvSpPr>
        <p:spPr>
          <a:xfrm>
            <a:off x="5212080" y="3593592"/>
            <a:ext cx="3474720" cy="402336"/>
          </a:xfrm>
          <a:prstGeom prst="rect">
            <a:avLst/>
          </a:prstGeom>
          <a:solidFill>
            <a:schemeClr val="accent2">
              <a:alpha val="12000"/>
            </a:schemeClr>
          </a:solidFill>
          <a:ln w="12700">
            <a:solidFill>
              <a:schemeClr val="accent2">
                <a:alpha val="12000"/>
              </a:schemeClr>
            </a:solidFill>
            <a:prstDash val="solid"/>
          </a:ln>
        </p:spPr>
      </p:sp>
      <p:pic>
        <p:nvPicPr>
          <p:cNvPr id="41" name="Image 9" descr="Yes">    </p:cNvPr>
          <p:cNvPicPr>
            <a:picLocks noChangeAspect="1"/>
          </p:cNvPicPr>
          <p:nvPr/>
        </p:nvPicPr>
        <p:blipFill>
          <a:blip r:embed="rId10"/>
          <a:stretch>
            <a:fillRect/>
          </a:stretch>
        </p:blipFill>
        <p:spPr>
          <a:xfrm>
            <a:off x="5349240" y="3712464"/>
            <a:ext cx="164592" cy="164592"/>
          </a:xfrm>
          <a:prstGeom prst="rect">
            <a:avLst/>
          </a:prstGeom>
        </p:spPr>
      </p:pic>
      <p:sp>
        <p:nvSpPr>
          <p:cNvPr id="42" name="Text 30"/>
          <p:cNvSpPr txBox="1"/>
          <p:nvPr/>
        </p:nvSpPr>
        <p:spPr>
          <a:xfrm>
            <a:off x="5623560" y="3593592"/>
            <a:ext cx="2971800" cy="402336"/>
          </a:xfrm>
          <a:prstGeom prst="rect">
            <a:avLst/>
          </a:prstGeom>
          <a:noFill/>
          <a:ln/>
        </p:spPr>
        <p:txBody>
          <a:bodyPr wrap="square" lIns="0" tIns="0" rIns="0" bIns="0" rtlCol="0" anchor="ctr"/>
          <a:lstStyle/>
          <a:p>
            <a:pPr indent="0" marL="0">
              <a:buNone/>
            </a:pPr>
            <a:r>
              <a:rPr lang="en-US" sz="1400" dirty="0">
                <a:solidFill>
                  <a:schemeClr val="tx1"/>
                </a:solidFill>
              </a:rPr>
              <a:t>Past decisions shape the next scan</a:t>
            </a:r>
            <a:endParaRPr lang="en-US" sz="1400" dirty="0"/>
          </a:p>
        </p:txBody>
      </p:sp>
      <p:sp>
        <p:nvSpPr>
          <p:cNvPr id="43" name="Text 31"/>
          <p:cNvSpPr txBox="1"/>
          <p:nvPr/>
        </p:nvSpPr>
        <p:spPr>
          <a:xfrm>
            <a:off x="457200" y="4050792"/>
            <a:ext cx="2103120" cy="402336"/>
          </a:xfrm>
          <a:prstGeom prst="rect">
            <a:avLst/>
          </a:prstGeom>
          <a:noFill/>
          <a:ln/>
        </p:spPr>
        <p:txBody>
          <a:bodyPr wrap="square" lIns="0" tIns="0" rIns="0" bIns="0" rtlCol="0" anchor="ctr"/>
          <a:lstStyle/>
          <a:p>
            <a:pPr indent="0" marL="0">
              <a:buNone/>
            </a:pPr>
            <a:r>
              <a:rPr lang="en-US" sz="1400" b="1" dirty="0">
                <a:solidFill>
                  <a:schemeClr val="tx2"/>
                </a:solidFill>
              </a:rPr>
              <a:t>Control over sources</a:t>
            </a:r>
            <a:endParaRPr lang="en-US" sz="1400" dirty="0"/>
          </a:p>
        </p:txBody>
      </p:sp>
      <p:sp>
        <p:nvSpPr>
          <p:cNvPr id="44" name="Control over sources chatbot cell"/>
          <p:cNvSpPr/>
          <p:nvPr/>
        </p:nvSpPr>
        <p:spPr>
          <a:xfrm>
            <a:off x="2651760" y="4050792"/>
            <a:ext cx="2468880" cy="402336"/>
          </a:xfrm>
          <a:prstGeom prst="rect">
            <a:avLst/>
          </a:prstGeom>
          <a:solidFill>
            <a:schemeClr val="bg2"/>
          </a:solidFill>
          <a:ln w="12700">
            <a:solidFill>
              <a:schemeClr val="bg2"/>
            </a:solidFill>
            <a:prstDash val="solid"/>
          </a:ln>
        </p:spPr>
      </p:sp>
      <p:pic>
        <p:nvPicPr>
          <p:cNvPr id="45" name="Image 10" descr="No">    </p:cNvPr>
          <p:cNvPicPr>
            <a:picLocks noChangeAspect="1"/>
          </p:cNvPicPr>
          <p:nvPr/>
        </p:nvPicPr>
        <p:blipFill>
          <a:blip r:embed="rId11"/>
          <a:stretch>
            <a:fillRect/>
          </a:stretch>
        </p:blipFill>
        <p:spPr>
          <a:xfrm>
            <a:off x="2788920" y="4169664"/>
            <a:ext cx="164592" cy="164592"/>
          </a:xfrm>
          <a:prstGeom prst="rect">
            <a:avLst/>
          </a:prstGeom>
        </p:spPr>
      </p:pic>
      <p:sp>
        <p:nvSpPr>
          <p:cNvPr id="46" name="Text 33"/>
          <p:cNvSpPr txBox="1"/>
          <p:nvPr/>
        </p:nvSpPr>
        <p:spPr>
          <a:xfrm>
            <a:off x="3063240" y="4050792"/>
            <a:ext cx="1965960" cy="402336"/>
          </a:xfrm>
          <a:prstGeom prst="rect">
            <a:avLst/>
          </a:prstGeom>
          <a:noFill/>
          <a:ln/>
        </p:spPr>
        <p:txBody>
          <a:bodyPr wrap="square" lIns="0" tIns="0" rIns="0" bIns="0" rtlCol="0" anchor="ctr"/>
          <a:lstStyle/>
          <a:p>
            <a:pPr indent="0" marL="0">
              <a:buNone/>
            </a:pPr>
            <a:r>
              <a:rPr lang="en-US" sz="1400" dirty="0">
                <a:solidFill>
                  <a:schemeClr val="accent6"/>
                </a:solidFill>
              </a:rPr>
              <a:t>Reads any site it finds</a:t>
            </a:r>
            <a:endParaRPr lang="en-US" sz="1400" dirty="0"/>
          </a:p>
        </p:txBody>
      </p:sp>
      <p:sp>
        <p:nvSpPr>
          <p:cNvPr id="47" name="Control over sources monitor cell"/>
          <p:cNvSpPr/>
          <p:nvPr/>
        </p:nvSpPr>
        <p:spPr>
          <a:xfrm>
            <a:off x="5212080" y="4050792"/>
            <a:ext cx="3474720" cy="402336"/>
          </a:xfrm>
          <a:prstGeom prst="rect">
            <a:avLst/>
          </a:prstGeom>
          <a:solidFill>
            <a:schemeClr val="accent2">
              <a:alpha val="12000"/>
            </a:schemeClr>
          </a:solidFill>
          <a:ln w="12700">
            <a:solidFill>
              <a:schemeClr val="accent2">
                <a:alpha val="12000"/>
              </a:schemeClr>
            </a:solidFill>
            <a:prstDash val="solid"/>
          </a:ln>
        </p:spPr>
      </p:sp>
      <p:pic>
        <p:nvPicPr>
          <p:cNvPr id="48" name="Image 11" descr="Yes">    </p:cNvPr>
          <p:cNvPicPr>
            <a:picLocks noChangeAspect="1"/>
          </p:cNvPicPr>
          <p:nvPr/>
        </p:nvPicPr>
        <p:blipFill>
          <a:blip r:embed="rId12"/>
          <a:stretch>
            <a:fillRect/>
          </a:stretch>
        </p:blipFill>
        <p:spPr>
          <a:xfrm>
            <a:off x="5349240" y="4169664"/>
            <a:ext cx="164592" cy="164592"/>
          </a:xfrm>
          <a:prstGeom prst="rect">
            <a:avLst/>
          </a:prstGeom>
        </p:spPr>
      </p:pic>
      <p:sp>
        <p:nvSpPr>
          <p:cNvPr id="49" name="Text 35"/>
          <p:cNvSpPr txBox="1"/>
          <p:nvPr/>
        </p:nvSpPr>
        <p:spPr>
          <a:xfrm>
            <a:off x="5623560" y="4050792"/>
            <a:ext cx="2971800" cy="402336"/>
          </a:xfrm>
          <a:prstGeom prst="rect">
            <a:avLst/>
          </a:prstGeom>
          <a:noFill/>
          <a:ln/>
        </p:spPr>
        <p:txBody>
          <a:bodyPr wrap="square" lIns="0" tIns="0" rIns="0" bIns="0" rtlCol="0" anchor="ctr"/>
          <a:lstStyle/>
          <a:p>
            <a:pPr indent="0" marL="0">
              <a:buNone/>
            </a:pPr>
            <a:r>
              <a:rPr lang="en-US" sz="1400" dirty="0">
                <a:solidFill>
                  <a:schemeClr val="tx1"/>
                </a:solidFill>
              </a:rPr>
              <a:t>A fixed list we control</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5B6472"/>
                </a:solidFill>
              </a:defRPr>
            </a:lvl1pPr>
          </a:lstStyle>
          <a:p>
            <a:pPr algn="l"/>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p:nvPr>
            <p:ph idx="100" type="body" hasCustomPrompt="1"/>
          </p:nvPr>
        </p:nvSpPr>
        <p:spPr>
          <a:xfrm>
            <a:off x="457200" y="365760"/>
            <a:ext cx="8229600" cy="256032"/>
          </a:xfrm>
          <a:prstGeom prst="rect">
            <a:avLst/>
          </a:prstGeom>
          <a:noFill/>
          <a:ln/>
        </p:spPr>
        <p:txBody>
          <a:bodyPr wrap="square" lIns="0" tIns="0" rIns="0" bIns="0" rtlCol="0" anchor="ctr"/>
          <a:lstStyle/>
          <a:p>
            <a:pPr algn="l" indent="0" marL="0">
              <a:buNone/>
            </a:pPr>
            <a:r>
              <a:rPr lang="en-US" sz="1200" b="1" spc="100" kern="0" dirty="0">
                <a:solidFill>
                  <a:schemeClr val="accent4"/>
                </a:solidFill>
                <a:latin typeface="Calibri" pitchFamily="34" charset="0"/>
                <a:ea typeface="Calibri" pitchFamily="34" charset="-122"/>
                <a:cs typeface="Calibri" pitchFamily="34" charset="-120"/>
              </a:rPr>
              <a:t>WORKING TOGETHER</a:t>
            </a:r>
            <a:endParaRPr lang="en-US" sz="1200" dirty="0"/>
          </a:p>
        </p:txBody>
      </p:sp>
      <p:sp>
        <p:nvSpPr>
          <p:cNvPr id="3" name="Text 0"/>
          <p:cNvSpPr/>
          <p:nvPr>
            <p:ph idx="101" type="title" hasCustomPrompt="1"/>
          </p:nvPr>
        </p:nvSpPr>
        <p:spPr>
          <a:xfrm>
            <a:off x="457200" y="640080"/>
            <a:ext cx="8229600" cy="548640"/>
          </a:xfrm>
          <a:prstGeom prst="rect">
            <a:avLst/>
          </a:prstGeom>
          <a:noFill/>
          <a:ln/>
        </p:spPr>
        <p:txBody>
          <a:bodyPr wrap="square" lIns="0" tIns="0" rIns="0" bIns="0" rtlCol="0" anchor="t"/>
          <a:lstStyle/>
          <a:p>
            <a:pPr algn="l" indent="0" marL="0">
              <a:buNone/>
            </a:pPr>
            <a:r>
              <a:rPr lang="en-US" sz="3000" b="1" dirty="0">
                <a:solidFill>
                  <a:schemeClr val="bg1"/>
                </a:solidFill>
                <a:latin typeface="Cambria" pitchFamily="34" charset="0"/>
                <a:ea typeface="Cambria" pitchFamily="34" charset="-122"/>
                <a:cs typeface="Cambria" pitchFamily="34" charset="-120"/>
              </a:rPr>
              <a:t>What we need from the business team</a:t>
            </a:r>
            <a:endParaRPr lang="en-US" sz="3000" dirty="0"/>
          </a:p>
        </p:txBody>
      </p:sp>
      <p:sp>
        <p:nvSpPr>
          <p:cNvPr id="4" name="Why it matters"/>
          <p:cNvSpPr txBox="1"/>
          <p:nvPr/>
        </p:nvSpPr>
        <p:spPr>
          <a:xfrm>
            <a:off x="457200" y="1261872"/>
            <a:ext cx="8229600" cy="292608"/>
          </a:xfrm>
          <a:prstGeom prst="rect">
            <a:avLst/>
          </a:prstGeom>
          <a:noFill/>
          <a:ln/>
        </p:spPr>
        <p:txBody>
          <a:bodyPr wrap="square" lIns="0" tIns="0" rIns="0" bIns="0" rtlCol="0" anchor="t"/>
          <a:lstStyle/>
          <a:p>
            <a:pPr indent="0" marL="0">
              <a:buNone/>
            </a:pPr>
            <a:r>
              <a:rPr lang="en-US" sz="1500" i="1" dirty="0">
                <a:solidFill>
                  <a:schemeClr val="bg2"/>
                </a:solidFill>
              </a:rPr>
              <a:t>An AI tool is only as good as the data and know-how behind it.</a:t>
            </a:r>
            <a:endParaRPr lang="en-US" sz="1500" dirty="0"/>
          </a:p>
        </p:txBody>
      </p:sp>
      <p:sp>
        <p:nvSpPr>
          <p:cNvPr id="5" name="Data readiness card"/>
          <p:cNvSpPr/>
          <p:nvPr/>
        </p:nvSpPr>
        <p:spPr>
          <a:xfrm>
            <a:off x="457200" y="1691640"/>
            <a:ext cx="4023360" cy="1325880"/>
          </a:xfrm>
          <a:prstGeom prst="roundRect">
            <a:avLst>
              <a:gd name="adj" fmla="val 5517"/>
            </a:avLst>
          </a:prstGeom>
          <a:solidFill>
            <a:schemeClr val="bg1">
              <a:alpha val="12000"/>
            </a:schemeClr>
          </a:solidFill>
          <a:ln w="12700">
            <a:solidFill>
              <a:schemeClr val="bg1">
                <a:alpha val="12000"/>
              </a:schemeClr>
            </a:solidFill>
            <a:prstDash val="solid"/>
          </a:ln>
        </p:spPr>
      </p:sp>
      <p:pic>
        <p:nvPicPr>
          <p:cNvPr id="6" name="Image 0" descr="Data readiness icon">    </p:cNvPr>
          <p:cNvPicPr>
            <a:picLocks noChangeAspect="1"/>
          </p:cNvPicPr>
          <p:nvPr/>
        </p:nvPicPr>
        <p:blipFill>
          <a:blip r:embed="rId1"/>
          <a:stretch>
            <a:fillRect/>
          </a:stretch>
        </p:blipFill>
        <p:spPr>
          <a:xfrm>
            <a:off x="658368" y="1847088"/>
            <a:ext cx="292608" cy="292608"/>
          </a:xfrm>
          <a:prstGeom prst="rect">
            <a:avLst/>
          </a:prstGeom>
        </p:spPr>
      </p:pic>
      <p:sp>
        <p:nvSpPr>
          <p:cNvPr id="7" name="Text 4"/>
          <p:cNvSpPr txBox="1"/>
          <p:nvPr/>
        </p:nvSpPr>
        <p:spPr>
          <a:xfrm>
            <a:off x="1078992" y="1828800"/>
            <a:ext cx="3200400" cy="329184"/>
          </a:xfrm>
          <a:prstGeom prst="rect">
            <a:avLst/>
          </a:prstGeom>
          <a:noFill/>
          <a:ln/>
        </p:spPr>
        <p:txBody>
          <a:bodyPr wrap="square" lIns="0" tIns="0" rIns="0" bIns="0" rtlCol="0" anchor="ctr"/>
          <a:lstStyle/>
          <a:p>
            <a:pPr indent="0" marL="0">
              <a:buNone/>
            </a:pPr>
            <a:r>
              <a:rPr lang="en-US" sz="1700" b="1" dirty="0">
                <a:solidFill>
                  <a:schemeClr val="bg1"/>
                </a:solidFill>
              </a:rPr>
              <a:t>Data readiness</a:t>
            </a:r>
            <a:endParaRPr lang="en-US" sz="1700" dirty="0"/>
          </a:p>
        </p:txBody>
      </p:sp>
      <p:sp>
        <p:nvSpPr>
          <p:cNvPr id="8" name="Text 5"/>
          <p:cNvSpPr txBox="1"/>
          <p:nvPr/>
        </p:nvSpPr>
        <p:spPr>
          <a:xfrm>
            <a:off x="658368" y="2240280"/>
            <a:ext cx="370332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2"/>
                </a:solidFill>
              </a:rPr>
              <a:t>Real mandate, assets and past decisions</a:t>
            </a:r>
            <a:endParaRPr lang="en-US" sz="1400" dirty="0"/>
          </a:p>
          <a:p>
            <a:pPr marL="177800" indent="-177800">
              <a:spcAft>
                <a:spcPts val="200"/>
              </a:spcAft>
              <a:buSzPct val="100000"/>
              <a:buChar char="•"/>
            </a:pPr>
            <a:r>
              <a:rPr lang="en-US" sz="1400" dirty="0">
                <a:solidFill>
                  <a:schemeClr val="bg2"/>
                </a:solidFill>
              </a:rPr>
              <a:t>Licences for broker reports we receive</a:t>
            </a:r>
            <a:endParaRPr lang="en-US" sz="1400" dirty="0"/>
          </a:p>
          <a:p>
            <a:pPr marL="177800" indent="-177800">
              <a:spcAft>
                <a:spcPts val="200"/>
              </a:spcAft>
              <a:buSzPct val="100000"/>
              <a:buChar char="•"/>
            </a:pPr>
            <a:r>
              <a:rPr lang="en-US" sz="1400" dirty="0">
                <a:solidFill>
                  <a:schemeClr val="bg2"/>
                </a:solidFill>
              </a:rPr>
              <a:t>Past figures from your spreadsheets</a:t>
            </a:r>
            <a:endParaRPr lang="en-US" sz="1400" dirty="0"/>
          </a:p>
        </p:txBody>
      </p:sp>
      <p:sp>
        <p:nvSpPr>
          <p:cNvPr id="9" name="Your know-how card"/>
          <p:cNvSpPr/>
          <p:nvPr/>
        </p:nvSpPr>
        <p:spPr>
          <a:xfrm>
            <a:off x="4663440" y="1691640"/>
            <a:ext cx="4023360" cy="1325880"/>
          </a:xfrm>
          <a:prstGeom prst="roundRect">
            <a:avLst>
              <a:gd name="adj" fmla="val 5517"/>
            </a:avLst>
          </a:prstGeom>
          <a:solidFill>
            <a:schemeClr val="bg1">
              <a:alpha val="12000"/>
            </a:schemeClr>
          </a:solidFill>
          <a:ln w="12700">
            <a:solidFill>
              <a:schemeClr val="bg1">
                <a:alpha val="12000"/>
              </a:schemeClr>
            </a:solidFill>
            <a:prstDash val="solid"/>
          </a:ln>
        </p:spPr>
      </p:sp>
      <p:pic>
        <p:nvPicPr>
          <p:cNvPr id="10" name="Image 1" descr="Your know-how icon">    </p:cNvPr>
          <p:cNvPicPr>
            <a:picLocks noChangeAspect="1"/>
          </p:cNvPicPr>
          <p:nvPr/>
        </p:nvPicPr>
        <p:blipFill>
          <a:blip r:embed="rId2"/>
          <a:stretch>
            <a:fillRect/>
          </a:stretch>
        </p:blipFill>
        <p:spPr>
          <a:xfrm>
            <a:off x="4864608" y="1847088"/>
            <a:ext cx="292608" cy="292608"/>
          </a:xfrm>
          <a:prstGeom prst="rect">
            <a:avLst/>
          </a:prstGeom>
        </p:spPr>
      </p:pic>
      <p:sp>
        <p:nvSpPr>
          <p:cNvPr id="11" name="Text 7"/>
          <p:cNvSpPr txBox="1"/>
          <p:nvPr/>
        </p:nvSpPr>
        <p:spPr>
          <a:xfrm>
            <a:off x="5285232" y="1828800"/>
            <a:ext cx="3200400" cy="329184"/>
          </a:xfrm>
          <a:prstGeom prst="rect">
            <a:avLst/>
          </a:prstGeom>
          <a:noFill/>
          <a:ln/>
        </p:spPr>
        <p:txBody>
          <a:bodyPr wrap="square" lIns="0" tIns="0" rIns="0" bIns="0" rtlCol="0" anchor="ctr"/>
          <a:lstStyle/>
          <a:p>
            <a:pPr indent="0" marL="0">
              <a:buNone/>
            </a:pPr>
            <a:r>
              <a:rPr lang="en-US" sz="1700" b="1" dirty="0">
                <a:solidFill>
                  <a:schemeClr val="bg1"/>
                </a:solidFill>
              </a:rPr>
              <a:t>Your know-how</a:t>
            </a:r>
            <a:endParaRPr lang="en-US" sz="1700" dirty="0"/>
          </a:p>
        </p:txBody>
      </p:sp>
      <p:sp>
        <p:nvSpPr>
          <p:cNvPr id="12" name="Text 8"/>
          <p:cNvSpPr txBox="1"/>
          <p:nvPr/>
        </p:nvSpPr>
        <p:spPr>
          <a:xfrm>
            <a:off x="4864608" y="2240280"/>
            <a:ext cx="370332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2"/>
                </a:solidFill>
              </a:rPr>
              <a:t>How each task is done today</a:t>
            </a:r>
            <a:endParaRPr lang="en-US" sz="1400" dirty="0"/>
          </a:p>
          <a:p>
            <a:pPr marL="177800" indent="-177800">
              <a:spcAft>
                <a:spcPts val="200"/>
              </a:spcAft>
              <a:buSzPct val="100000"/>
              <a:buChar char="•"/>
            </a:pPr>
            <a:r>
              <a:rPr lang="en-US" sz="1400" dirty="0">
                <a:solidFill>
                  <a:schemeClr val="bg2"/>
                </a:solidFill>
              </a:rPr>
              <a:t>Which brokers and measures you trust</a:t>
            </a:r>
            <a:endParaRPr lang="en-US" sz="1400" dirty="0"/>
          </a:p>
          <a:p>
            <a:pPr marL="177800" indent="-177800">
              <a:spcAft>
                <a:spcPts val="200"/>
              </a:spcAft>
              <a:buSzPct val="100000"/>
              <a:buChar char="•"/>
            </a:pPr>
            <a:r>
              <a:rPr lang="en-US" sz="1400" dirty="0">
                <a:solidFill>
                  <a:schemeClr val="bg2"/>
                </a:solidFill>
              </a:rPr>
              <a:t>What a good brief or lead looks like</a:t>
            </a:r>
            <a:endParaRPr lang="en-US" sz="1400" dirty="0"/>
          </a:p>
        </p:txBody>
      </p:sp>
      <p:sp>
        <p:nvSpPr>
          <p:cNvPr id="13" name="How we'll judge it card"/>
          <p:cNvSpPr/>
          <p:nvPr/>
        </p:nvSpPr>
        <p:spPr>
          <a:xfrm>
            <a:off x="457200" y="3154680"/>
            <a:ext cx="4023360" cy="1325880"/>
          </a:xfrm>
          <a:prstGeom prst="roundRect">
            <a:avLst>
              <a:gd name="adj" fmla="val 5517"/>
            </a:avLst>
          </a:prstGeom>
          <a:solidFill>
            <a:schemeClr val="bg1">
              <a:alpha val="12000"/>
            </a:schemeClr>
          </a:solidFill>
          <a:ln w="12700">
            <a:solidFill>
              <a:schemeClr val="bg1">
                <a:alpha val="12000"/>
              </a:schemeClr>
            </a:solidFill>
            <a:prstDash val="solid"/>
          </a:ln>
        </p:spPr>
      </p:sp>
      <p:pic>
        <p:nvPicPr>
          <p:cNvPr id="14" name="Image 2" descr="How we'll judge it icon">    </p:cNvPr>
          <p:cNvPicPr>
            <a:picLocks noChangeAspect="1"/>
          </p:cNvPicPr>
          <p:nvPr/>
        </p:nvPicPr>
        <p:blipFill>
          <a:blip r:embed="rId3"/>
          <a:stretch>
            <a:fillRect/>
          </a:stretch>
        </p:blipFill>
        <p:spPr>
          <a:xfrm>
            <a:off x="658368" y="3310128"/>
            <a:ext cx="292608" cy="292608"/>
          </a:xfrm>
          <a:prstGeom prst="rect">
            <a:avLst/>
          </a:prstGeom>
        </p:spPr>
      </p:pic>
      <p:sp>
        <p:nvSpPr>
          <p:cNvPr id="15" name="Text 10"/>
          <p:cNvSpPr txBox="1"/>
          <p:nvPr/>
        </p:nvSpPr>
        <p:spPr>
          <a:xfrm>
            <a:off x="1078992" y="3291840"/>
            <a:ext cx="3200400" cy="329184"/>
          </a:xfrm>
          <a:prstGeom prst="rect">
            <a:avLst/>
          </a:prstGeom>
          <a:noFill/>
          <a:ln/>
        </p:spPr>
        <p:txBody>
          <a:bodyPr wrap="square" lIns="0" tIns="0" rIns="0" bIns="0" rtlCol="0" anchor="ctr"/>
          <a:lstStyle/>
          <a:p>
            <a:pPr indent="0" marL="0">
              <a:buNone/>
            </a:pPr>
            <a:r>
              <a:rPr lang="en-US" sz="1700" b="1" dirty="0">
                <a:solidFill>
                  <a:schemeClr val="bg1"/>
                </a:solidFill>
              </a:rPr>
              <a:t>How we'll judge it</a:t>
            </a:r>
            <a:endParaRPr lang="en-US" sz="1700" dirty="0"/>
          </a:p>
        </p:txBody>
      </p:sp>
      <p:sp>
        <p:nvSpPr>
          <p:cNvPr id="16" name="Text 11"/>
          <p:cNvSpPr txBox="1"/>
          <p:nvPr/>
        </p:nvSpPr>
        <p:spPr>
          <a:xfrm>
            <a:off x="658368" y="3703320"/>
            <a:ext cx="370332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2"/>
                </a:solidFill>
              </a:rPr>
              <a:t>Real questions, with the right answers</a:t>
            </a:r>
            <a:endParaRPr lang="en-US" sz="1400" dirty="0"/>
          </a:p>
          <a:p>
            <a:pPr marL="177800" indent="-177800">
              <a:spcAft>
                <a:spcPts val="200"/>
              </a:spcAft>
              <a:buSzPct val="100000"/>
              <a:buChar char="•"/>
            </a:pPr>
            <a:r>
              <a:rPr lang="en-US" sz="1400" dirty="0">
                <a:solidFill>
                  <a:schemeClr val="bg2"/>
                </a:solidFill>
              </a:rPr>
              <a:t>Leads you would and wouldn't pursue</a:t>
            </a:r>
            <a:endParaRPr lang="en-US" sz="1400" dirty="0"/>
          </a:p>
          <a:p>
            <a:pPr marL="177800" indent="-177800">
              <a:spcAft>
                <a:spcPts val="200"/>
              </a:spcAft>
              <a:buSzPct val="100000"/>
              <a:buChar char="•"/>
            </a:pPr>
            <a:r>
              <a:rPr lang="en-US" sz="1400" dirty="0">
                <a:solidFill>
                  <a:schemeClr val="bg2"/>
                </a:solidFill>
              </a:rPr>
              <a:t>How long tasks take by hand today</a:t>
            </a:r>
            <a:endParaRPr lang="en-US" sz="1400" dirty="0"/>
          </a:p>
        </p:txBody>
      </p:sp>
      <p:sp>
        <p:nvSpPr>
          <p:cNvPr id="17" name="Time and sign-off card"/>
          <p:cNvSpPr/>
          <p:nvPr/>
        </p:nvSpPr>
        <p:spPr>
          <a:xfrm>
            <a:off x="4663440" y="3154680"/>
            <a:ext cx="4023360" cy="1325880"/>
          </a:xfrm>
          <a:prstGeom prst="roundRect">
            <a:avLst>
              <a:gd name="adj" fmla="val 5517"/>
            </a:avLst>
          </a:prstGeom>
          <a:solidFill>
            <a:schemeClr val="bg1">
              <a:alpha val="12000"/>
            </a:schemeClr>
          </a:solidFill>
          <a:ln w="12700">
            <a:solidFill>
              <a:schemeClr val="bg1">
                <a:alpha val="12000"/>
              </a:schemeClr>
            </a:solidFill>
            <a:prstDash val="solid"/>
          </a:ln>
        </p:spPr>
      </p:sp>
      <p:pic>
        <p:nvPicPr>
          <p:cNvPr id="18" name="Image 3" descr="Time and sign-off icon">    </p:cNvPr>
          <p:cNvPicPr>
            <a:picLocks noChangeAspect="1"/>
          </p:cNvPicPr>
          <p:nvPr/>
        </p:nvPicPr>
        <p:blipFill>
          <a:blip r:embed="rId4"/>
          <a:stretch>
            <a:fillRect/>
          </a:stretch>
        </p:blipFill>
        <p:spPr>
          <a:xfrm>
            <a:off x="4864608" y="3310128"/>
            <a:ext cx="292608" cy="292608"/>
          </a:xfrm>
          <a:prstGeom prst="rect">
            <a:avLst/>
          </a:prstGeom>
        </p:spPr>
      </p:pic>
      <p:sp>
        <p:nvSpPr>
          <p:cNvPr id="19" name="Text 13"/>
          <p:cNvSpPr txBox="1"/>
          <p:nvPr/>
        </p:nvSpPr>
        <p:spPr>
          <a:xfrm>
            <a:off x="5285232" y="3291840"/>
            <a:ext cx="3200400" cy="329184"/>
          </a:xfrm>
          <a:prstGeom prst="rect">
            <a:avLst/>
          </a:prstGeom>
          <a:noFill/>
          <a:ln/>
        </p:spPr>
        <p:txBody>
          <a:bodyPr wrap="square" lIns="0" tIns="0" rIns="0" bIns="0" rtlCol="0" anchor="ctr"/>
          <a:lstStyle/>
          <a:p>
            <a:pPr indent="0" marL="0">
              <a:buNone/>
            </a:pPr>
            <a:r>
              <a:rPr lang="en-US" sz="1700" b="1" dirty="0">
                <a:solidFill>
                  <a:schemeClr val="bg1"/>
                </a:solidFill>
              </a:rPr>
              <a:t>Time and sign-off</a:t>
            </a:r>
            <a:endParaRPr lang="en-US" sz="1700" dirty="0"/>
          </a:p>
        </p:txBody>
      </p:sp>
      <p:sp>
        <p:nvSpPr>
          <p:cNvPr id="20" name="Text 14"/>
          <p:cNvSpPr txBox="1"/>
          <p:nvPr/>
        </p:nvSpPr>
        <p:spPr>
          <a:xfrm>
            <a:off x="4864608" y="3703320"/>
            <a:ext cx="3703320" cy="731520"/>
          </a:xfrm>
          <a:prstGeom prst="rect">
            <a:avLst/>
          </a:prstGeom>
          <a:noFill/>
          <a:ln/>
        </p:spPr>
        <p:txBody>
          <a:bodyPr wrap="square" lIns="0" tIns="0" rIns="0" bIns="0" rtlCol="0" anchor="t"/>
          <a:lstStyle/>
          <a:p>
            <a:pPr marL="177800" indent="-177800">
              <a:spcAft>
                <a:spcPts val="200"/>
              </a:spcAft>
              <a:buSzPct val="100000"/>
              <a:buChar char="•"/>
            </a:pPr>
            <a:r>
              <a:rPr lang="en-US" sz="1400" dirty="0">
                <a:solidFill>
                  <a:schemeClr val="bg2"/>
                </a:solidFill>
              </a:rPr>
              <a:t>Analysts to try it and give feedback</a:t>
            </a:r>
            <a:endParaRPr lang="en-US" sz="1400" dirty="0"/>
          </a:p>
          <a:p>
            <a:pPr marL="177800" indent="-177800">
              <a:spcAft>
                <a:spcPts val="200"/>
              </a:spcAft>
              <a:buSzPct val="100000"/>
              <a:buChar char="•"/>
            </a:pPr>
            <a:r>
              <a:rPr lang="en-US" sz="1400" dirty="0">
                <a:solidFill>
                  <a:schemeClr val="bg2"/>
                </a:solidFill>
              </a:rPr>
              <a:t>Compliance sign-off on AI and data use</a:t>
            </a:r>
            <a:endParaRPr lang="en-US" sz="1400" dirty="0"/>
          </a:p>
          <a:p>
            <a:pPr marL="177800" indent="-177800">
              <a:spcAft>
                <a:spcPts val="200"/>
              </a:spcAft>
              <a:buSzPct val="100000"/>
              <a:buChar char="•"/>
            </a:pPr>
            <a:r>
              <a:rPr lang="en-US" sz="1400" dirty="0">
                <a:solidFill>
                  <a:schemeClr val="bg2"/>
                </a:solidFill>
              </a:rPr>
              <a:t>Secure hosting with login</a:t>
            </a:r>
            <a:endParaRPr lang="en-US" sz="1400" dirty="0"/>
          </a:p>
        </p:txBody>
      </p:sp>
      <p:sp>
        <p:nvSpPr>
          <p:cNvPr id="25" name="Slide Number Placeholder 0"/>
          <p:cNvSpPr>
            <a:spLocks noGrp="1"/>
          </p:cNvSpPr>
          <p:nvPr>
            <p:ph type="sldNum" sz="quarter" idx="4294967295"/>
          </p:nvPr>
        </p:nvSpPr>
        <p:spPr>
          <a:xfrm>
            <a:off x="8321040" y="4754880"/>
            <a:ext cx="365760" cy="274320"/>
          </a:xfrm>
          <a:prstGeom prst="rect">
            <a:avLst/>
          </a:prstGeom>
          <a:extLst>
            <a:ext uri="{C572A759-6A51-4108-AA02-DFA0A04FC94B}">
              <ma14:wrappingTextBoxFlag xmlns:ma14="http://schemas.microsoft.com/office/mac/drawingml/2011/main" val="0"/>
            </a:ext>
          </a:extLst>
        </p:spPr>
        <p:txBody>
          <a:bodyPr/>
          <a:lstStyle>
            <a:lvl1pPr>
              <a:defRPr sz="1000">
                <a:solidFill>
                  <a:srgbClr val="8A97A8"/>
                </a:solidFill>
              </a:defRPr>
            </a:lvl1pPr>
          </a:lstStyle>
          <a:p>
            <a:pPr algn="l"/>
            <a:fld id="{F7021451-1387-4CA6-816F-3879F97B5CBC}" type="slidenum">
              <a:rPr b="0" lang="en-US"/>
              <a:t>6</a:t>
            </a:fld>
            <a:endParaRPr lang="en-US"/>
          </a:p>
        </p:txBody>
      </p:sp>
    </p:spTree>
  </p:cSld>
  <p:clrMapOvr>
    <a:masterClrMapping/>
  </p:clrMapOvr>
</p:sld>
</file>

<file path=ppt/theme/theme1.xml><?xml version="1.0" encoding="utf-8"?>
<a:theme xmlns:a="http://schemas.openxmlformats.org/drawingml/2006/main" name="London Office Monitor">
  <a:themeElements>
    <a:clrScheme name="London Office Monitor">
      <a:dk1>
        <a:srgbClr val="1B2430"/>
      </a:dk1>
      <a:lt1>
        <a:srgbClr val="FFFFFF"/>
      </a:lt1>
      <a:dk2>
        <a:srgbClr val="23395B"/>
      </a:dk2>
      <a:lt2>
        <a:srgbClr val="EEF1F5"/>
      </a:lt2>
      <a:accent1>
        <a:srgbClr val="C8553D"/>
      </a:accent1>
      <a:accent2>
        <a:srgbClr val="2E7D6B"/>
      </a:accent2>
      <a:accent3>
        <a:srgbClr val="8A97A8"/>
      </a:accent3>
      <a:accent4>
        <a:srgbClr val="E3B23C"/>
      </a:accent4>
      <a:accent5>
        <a:srgbClr val="4A6FA5"/>
      </a:accent5>
      <a:accent6>
        <a:srgbClr val="5B6472"/>
      </a:accent6>
      <a:hlink>
        <a:srgbClr val="4A6FA5"/>
      </a:hlink>
      <a:folHlink>
        <a:srgbClr val="5B6472"/>
      </a:folHlink>
    </a:clrScheme>
    <a:fontScheme name="London Office Monitor">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6</Slides>
  <Notes>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6</vt:i4>
      </vt:variant>
    </vt:vector>
  </HeadingPairs>
  <TitlesOfParts>
    <vt:vector size="9" baseType="lpstr">
      <vt:lpstr>Arial</vt:lpstr>
      <vt:lpstr>Calibri</vt:lpstr>
      <vt:lpstr>Office Theme</vt:lpstr>
      <vt:lpstr>Slide 1</vt:lpstr>
      <vt:lpstr>Slide 2</vt:lpstr>
      <vt:lpstr>Slide 3</vt:lpstr>
      <vt:lpstr>Slide 4</vt:lpstr>
      <vt:lpstr>Slide 5</vt:lpstr>
      <vt:lpstr>Slide 6</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London Office Monitor: what it does for the business team</dc:title>
  <dc:subject>PptxGenJS Presentation</dc:subject>
  <dc:creator>Cody Chan</dc:creator>
  <cp:lastModifiedBy>Cody Chan</cp:lastModifiedBy>
  <cp:revision>1</cp:revision>
  <dcterms:created xsi:type="dcterms:W3CDTF">2026-10-25T18:19:33Z</dcterms:created>
  <dcterms:modified xsi:type="dcterms:W3CDTF">2026-10-25T18:19:33Z</dcterms:modified>
</cp:coreProperties>
</file>